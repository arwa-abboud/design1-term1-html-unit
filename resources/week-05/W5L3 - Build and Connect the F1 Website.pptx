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418795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82880" cy="418795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88720"/>
            <a:ext cx="8503920" cy="685800"/>
          </a:xfrm>
          <a:prstGeom prst="rect">
            <a:avLst/>
          </a:prstGeom>
          <a:noFill/>
        </p:spPr>
        <p:txBody>
          <a:bodyPr wrap="square" anchor="ctr">
            <a:spAutoFit/>
          </a:bodyPr>
          <a:lstStyle/>
          <a:p>
            <a:pPr marL="0" indent="0">
              <a:buNone/>
            </a:pPr>
            <a:r>
              <a:rPr sz="3200" b="1" i="0">
                <a:solidFill>
                  <a:srgbClr val="FFFFFF"/>
                </a:solidFill>
                <a:latin typeface="Arial"/>
              </a:rPr>
              <a:t>DESIGN 1</a:t>
            </a:r>
          </a:p>
        </p:txBody>
      </p:sp>
      <p:sp>
        <p:nvSpPr>
          <p:cNvPr id="7" name="TextBox 6"/>
          <p:cNvSpPr txBox="1"/>
          <p:nvPr/>
        </p:nvSpPr>
        <p:spPr>
          <a:xfrm>
            <a:off x="411480" y="1965960"/>
            <a:ext cx="8503920" cy="594360"/>
          </a:xfrm>
          <a:prstGeom prst="rect">
            <a:avLst/>
          </a:prstGeom>
          <a:noFill/>
        </p:spPr>
        <p:txBody>
          <a:bodyPr wrap="square" anchor="ctr">
            <a:spAutoFit/>
          </a:bodyPr>
          <a:lstStyle/>
          <a:p>
            <a:pPr marL="0" indent="0">
              <a:buNone/>
            </a:pPr>
            <a:r>
              <a:rPr sz="2100" b="0" i="0">
                <a:solidFill>
                  <a:srgbClr val="A8D4E8"/>
                </a:solidFill>
                <a:latin typeface="Arial"/>
              </a:rPr>
              <a:t>Lesson 3: Build and Connect the F1 Website</a:t>
            </a:r>
          </a:p>
        </p:txBody>
      </p:sp>
      <p:cxnSp>
        <p:nvCxnSpPr>
          <p:cNvPr id="8" name="Connector 7"/>
          <p:cNvCxnSpPr/>
          <p:nvPr/>
        </p:nvCxnSpPr>
        <p:spPr>
          <a:xfrm>
            <a:off x="411480" y="2606040"/>
            <a:ext cx="8321039" cy="0"/>
          </a:xfrm>
          <a:prstGeom prst="line">
            <a:avLst/>
          </a:prstGeom>
          <a:ln w="12801">
            <a:solidFill>
              <a:srgbClr val="0F9E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1480" y="2743200"/>
            <a:ext cx="8503920" cy="320040"/>
          </a:xfrm>
          <a:prstGeom prst="rect">
            <a:avLst/>
          </a:prstGeom>
          <a:noFill/>
        </p:spPr>
        <p:txBody>
          <a:bodyPr wrap="square" anchor="ctr">
            <a:spAutoFit/>
          </a:bodyPr>
          <a:lstStyle/>
          <a:p>
            <a:pPr marL="0" indent="0">
              <a:buNone/>
            </a:pPr>
            <a:r>
              <a:rPr sz="1200" b="0" i="0">
                <a:solidFill>
                  <a:srgbClr val="8DC8E0"/>
                </a:solidFill>
                <a:latin typeface="Arial"/>
              </a:rPr>
              <a:t>Ms. Abboud   •   Grade 9 - Design 1   •   Term 1, Week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Learning Objectives</a:t>
            </a:r>
          </a:p>
        </p:txBody>
      </p:sp>
      <p:sp>
        <p:nvSpPr>
          <p:cNvPr id="6" name="Rectangle 5"/>
          <p:cNvSpPr/>
          <p:nvPr/>
        </p:nvSpPr>
        <p:spPr>
          <a:xfrm>
            <a:off x="274320" y="1453896"/>
            <a:ext cx="4160520" cy="3044952"/>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53896"/>
            <a:ext cx="4160520" cy="3474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53896"/>
            <a:ext cx="4160520" cy="347472"/>
          </a:xfrm>
          <a:prstGeom prst="rect">
            <a:avLst/>
          </a:prstGeom>
          <a:noFill/>
        </p:spPr>
        <p:txBody>
          <a:bodyPr wrap="square" anchor="ctr">
            <a:spAutoFit/>
          </a:bodyPr>
          <a:lstStyle/>
          <a:p>
            <a:pPr algn="ctr" marL="0" indent="0">
              <a:buNone/>
            </a:pPr>
            <a:r>
              <a:rPr sz="1300" b="1" i="0">
                <a:solidFill>
                  <a:srgbClr val="FFFFFF"/>
                </a:solidFill>
                <a:latin typeface="Arial"/>
              </a:rPr>
              <a:t>WALT - We Are Learning To</a:t>
            </a:r>
          </a:p>
        </p:txBody>
      </p:sp>
      <p:sp>
        <p:nvSpPr>
          <p:cNvPr id="9" name="TextBox 8"/>
          <p:cNvSpPr txBox="1"/>
          <p:nvPr/>
        </p:nvSpPr>
        <p:spPr>
          <a:xfrm>
            <a:off x="438912" y="1892807"/>
            <a:ext cx="3831336" cy="2514600"/>
          </a:xfrm>
          <a:prstGeom prst="rect">
            <a:avLst/>
          </a:prstGeom>
          <a:noFill/>
        </p:spPr>
        <p:txBody>
          <a:bodyPr wrap="square" anchor="t">
            <a:spAutoFit/>
          </a:bodyPr>
          <a:lstStyle/>
          <a:p>
            <a:pPr marL="342900" indent="-342900">
              <a:lnSpc>
                <a:spcPts val="2000"/>
              </a:lnSpc>
              <a:spcAft>
                <a:spcPts val="1000"/>
              </a:spcAft>
              <a:buSzPct val="100000"/>
              <a:buChar char="●"/>
            </a:pPr>
            <a:r>
              <a:rPr sz="1400" b="0" i="0">
                <a:solidFill>
                  <a:srgbClr val="1A1A1A"/>
                </a:solidFill>
                <a:latin typeface="Arial"/>
              </a:rPr>
              <a:t>Build a four-page website from scratch.</a:t>
            </a:r>
          </a:p>
          <a:p>
            <a:pPr marL="342900" indent="-342900">
              <a:lnSpc>
                <a:spcPts val="2000"/>
              </a:lnSpc>
              <a:spcAft>
                <a:spcPts val="1000"/>
              </a:spcAft>
              <a:buSzPct val="100000"/>
              <a:buChar char="●"/>
            </a:pPr>
            <a:r>
              <a:rPr sz="1400" b="0" i="0">
                <a:solidFill>
                  <a:srgbClr val="1A1A1A"/>
                </a:solidFill>
                <a:latin typeface="Arial"/>
              </a:rPr>
              <a:t>Connect the pages with a navigation menu of hyperlinks.</a:t>
            </a:r>
          </a:p>
        </p:txBody>
      </p:sp>
      <p:sp>
        <p:nvSpPr>
          <p:cNvPr id="10" name="Rectangle 9"/>
          <p:cNvSpPr/>
          <p:nvPr/>
        </p:nvSpPr>
        <p:spPr>
          <a:xfrm>
            <a:off x="4709160" y="1453896"/>
            <a:ext cx="4160520" cy="3044952"/>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453896"/>
            <a:ext cx="4160520" cy="3474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53896"/>
            <a:ext cx="4160520" cy="347472"/>
          </a:xfrm>
          <a:prstGeom prst="rect">
            <a:avLst/>
          </a:prstGeom>
          <a:noFill/>
        </p:spPr>
        <p:txBody>
          <a:bodyPr wrap="square" anchor="ctr">
            <a:spAutoFit/>
          </a:bodyPr>
          <a:lstStyle/>
          <a:p>
            <a:pPr algn="ctr" marL="0" indent="0">
              <a:buNone/>
            </a:pPr>
            <a:r>
              <a:rPr sz="1300" b="1" i="0">
                <a:solidFill>
                  <a:srgbClr val="FFFFFF"/>
                </a:solidFill>
                <a:latin typeface="Arial"/>
              </a:rPr>
              <a:t>WILF - What I'm Looking For</a:t>
            </a:r>
          </a:p>
        </p:txBody>
      </p:sp>
      <p:sp>
        <p:nvSpPr>
          <p:cNvPr id="13" name="TextBox 12"/>
          <p:cNvSpPr txBox="1"/>
          <p:nvPr/>
        </p:nvSpPr>
        <p:spPr>
          <a:xfrm>
            <a:off x="4873752" y="1892807"/>
            <a:ext cx="3831336" cy="2514600"/>
          </a:xfrm>
          <a:prstGeom prst="rect">
            <a:avLst/>
          </a:prstGeom>
          <a:noFill/>
        </p:spPr>
        <p:txBody>
          <a:bodyPr wrap="square" anchor="t">
            <a:spAutoFit/>
          </a:bodyPr>
          <a:lstStyle/>
          <a:p>
            <a:pPr marL="342900" indent="-342900">
              <a:lnSpc>
                <a:spcPts val="2000"/>
              </a:lnSpc>
              <a:spcAft>
                <a:spcPts val="1000"/>
              </a:spcAft>
              <a:buSzPct val="100000"/>
              <a:buChar char="●"/>
            </a:pPr>
            <a:r>
              <a:rPr sz="1400" b="0" i="0">
                <a:solidFill>
                  <a:srgbClr val="1A1A1A"/>
                </a:solidFill>
                <a:latin typeface="Arial"/>
              </a:rPr>
              <a:t>All 4 files are created with the correct names.</a:t>
            </a:r>
          </a:p>
          <a:p>
            <a:pPr marL="342900" indent="-342900">
              <a:lnSpc>
                <a:spcPts val="2000"/>
              </a:lnSpc>
              <a:spcAft>
                <a:spcPts val="1000"/>
              </a:spcAft>
              <a:buSzPct val="100000"/>
              <a:buChar char="●"/>
            </a:pPr>
            <a:r>
              <a:rPr sz="1400" b="0" i="0">
                <a:solidFill>
                  <a:srgbClr val="1A1A1A"/>
                </a:solidFill>
                <a:latin typeface="Arial"/>
              </a:rPr>
              <a:t>The navigation menu is at the top of every page.</a:t>
            </a:r>
          </a:p>
          <a:p>
            <a:pPr marL="342900" indent="-342900">
              <a:lnSpc>
                <a:spcPts val="2000"/>
              </a:lnSpc>
              <a:spcAft>
                <a:spcPts val="1000"/>
              </a:spcAft>
              <a:buSzPct val="100000"/>
              <a:buChar char="●"/>
            </a:pPr>
            <a:r>
              <a:rPr sz="1400" b="0" i="0">
                <a:solidFill>
                  <a:srgbClr val="1A1A1A"/>
                </a:solidFill>
                <a:latin typeface="Arial"/>
              </a:rPr>
              <a:t>Every link works when I click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Frayer Model: Relative Link (Review)</a:t>
            </a:r>
          </a:p>
        </p:txBody>
      </p:sp>
      <p:sp>
        <p:nvSpPr>
          <p:cNvPr id="6" name="Rectangle 5"/>
          <p:cNvSpPr/>
          <p:nvPr/>
        </p:nvSpPr>
        <p:spPr>
          <a:xfrm>
            <a:off x="274320" y="1453896"/>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53896"/>
            <a:ext cx="4242816" cy="31089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53896"/>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DEFINITION</a:t>
            </a:r>
          </a:p>
        </p:txBody>
      </p:sp>
      <p:sp>
        <p:nvSpPr>
          <p:cNvPr id="9" name="TextBox 8"/>
          <p:cNvSpPr txBox="1"/>
          <p:nvPr/>
        </p:nvSpPr>
        <p:spPr>
          <a:xfrm>
            <a:off x="420623" y="1837944"/>
            <a:ext cx="3950208" cy="1014984"/>
          </a:xfrm>
          <a:prstGeom prst="rect">
            <a:avLst/>
          </a:prstGeom>
          <a:noFill/>
        </p:spPr>
        <p:txBody>
          <a:bodyPr wrap="square" anchor="t">
            <a:spAutoFit/>
          </a:bodyPr>
          <a:lstStyle/>
          <a:p>
            <a:pPr marL="0" indent="0">
              <a:buNone/>
            </a:pPr>
            <a:r>
              <a:rPr sz="1300" b="0" i="0">
                <a:solidFill>
                  <a:srgbClr val="1A1A1A"/>
                </a:solidFill>
                <a:latin typeface="Arial"/>
              </a:rPr>
              <a:t>A link using just a filename or short path (e.g. about.html) to point to another page within the same project.</a:t>
            </a:r>
          </a:p>
        </p:txBody>
      </p:sp>
      <p:sp>
        <p:nvSpPr>
          <p:cNvPr id="10" name="Rectangle 9"/>
          <p:cNvSpPr/>
          <p:nvPr/>
        </p:nvSpPr>
        <p:spPr>
          <a:xfrm>
            <a:off x="4626864" y="1453896"/>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26864" y="1453896"/>
            <a:ext cx="4242816" cy="310896"/>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453896"/>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CHARACTERISTICS</a:t>
            </a:r>
          </a:p>
        </p:txBody>
      </p:sp>
      <p:sp>
        <p:nvSpPr>
          <p:cNvPr id="13" name="TextBox 12"/>
          <p:cNvSpPr txBox="1"/>
          <p:nvPr/>
        </p:nvSpPr>
        <p:spPr>
          <a:xfrm>
            <a:off x="4773168" y="1837944"/>
            <a:ext cx="3950208" cy="1014984"/>
          </a:xfrm>
          <a:prstGeom prst="rect">
            <a:avLst/>
          </a:prstGeom>
          <a:noFill/>
        </p:spPr>
        <p:txBody>
          <a:bodyPr wrap="square" anchor="t">
            <a:spAutoFit/>
          </a:bodyPr>
          <a:lstStyle/>
          <a:p>
            <a:pPr marL="0" indent="0">
              <a:buNone/>
            </a:pPr>
            <a:r>
              <a:rPr sz="1300" b="0" i="0">
                <a:solidFill>
                  <a:srgbClr val="1A1A1A"/>
                </a:solidFill>
                <a:latin typeface="Arial"/>
              </a:rPr>
              <a:t>Just a filename/path; no https://; points within the same project.</a:t>
            </a:r>
          </a:p>
        </p:txBody>
      </p:sp>
      <p:sp>
        <p:nvSpPr>
          <p:cNvPr id="14" name="Rectangle 13"/>
          <p:cNvSpPr/>
          <p:nvPr/>
        </p:nvSpPr>
        <p:spPr>
          <a:xfrm>
            <a:off x="274320" y="3035808"/>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035808"/>
            <a:ext cx="4242816" cy="31089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035808"/>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EXAMPLES</a:t>
            </a:r>
          </a:p>
        </p:txBody>
      </p:sp>
      <p:sp>
        <p:nvSpPr>
          <p:cNvPr id="17" name="TextBox 16"/>
          <p:cNvSpPr txBox="1"/>
          <p:nvPr/>
        </p:nvSpPr>
        <p:spPr>
          <a:xfrm>
            <a:off x="420623" y="3419856"/>
            <a:ext cx="3950208" cy="1014984"/>
          </a:xfrm>
          <a:prstGeom prst="rect">
            <a:avLst/>
          </a:prstGeom>
          <a:noFill/>
        </p:spPr>
        <p:txBody>
          <a:bodyPr wrap="square" anchor="t">
            <a:spAutoFit/>
          </a:bodyPr>
          <a:lstStyle/>
          <a:p>
            <a:pPr marL="0" indent="0">
              <a:buNone/>
            </a:pPr>
            <a:r>
              <a:rPr sz="1300" b="0" i="0">
                <a:solidFill>
                  <a:srgbClr val="1A1A1A"/>
                </a:solidFill>
                <a:latin typeface="Arial"/>
              </a:rPr>
              <a:t>href="about.html"</a:t>
            </a:r>
          </a:p>
        </p:txBody>
      </p:sp>
      <p:sp>
        <p:nvSpPr>
          <p:cNvPr id="18" name="Rectangle 17"/>
          <p:cNvSpPr/>
          <p:nvPr/>
        </p:nvSpPr>
        <p:spPr>
          <a:xfrm>
            <a:off x="4626864" y="3035808"/>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26864" y="3035808"/>
            <a:ext cx="4242816" cy="310896"/>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3035808"/>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NON-EXAMPLES</a:t>
            </a:r>
          </a:p>
        </p:txBody>
      </p:sp>
      <p:sp>
        <p:nvSpPr>
          <p:cNvPr id="21" name="TextBox 20"/>
          <p:cNvSpPr txBox="1"/>
          <p:nvPr/>
        </p:nvSpPr>
        <p:spPr>
          <a:xfrm>
            <a:off x="4773168" y="3419856"/>
            <a:ext cx="3950208" cy="1014984"/>
          </a:xfrm>
          <a:prstGeom prst="rect">
            <a:avLst/>
          </a:prstGeom>
          <a:noFill/>
        </p:spPr>
        <p:txBody>
          <a:bodyPr wrap="square" anchor="t">
            <a:spAutoFit/>
          </a:bodyPr>
          <a:lstStyle/>
          <a:p>
            <a:pPr marL="0" indent="0">
              <a:buNone/>
            </a:pPr>
            <a:r>
              <a:rPr sz="1300" b="0" i="0">
                <a:solidFill>
                  <a:srgbClr val="1A1A1A"/>
                </a:solidFill>
                <a:latin typeface="Arial"/>
              </a:rPr>
              <a:t>href="https://www.wikipedia.org" (an absolute link)</a:t>
            </a:r>
          </a:p>
        </p:txBody>
      </p:sp>
      <p:sp>
        <p:nvSpPr>
          <p:cNvPr id="22" name="Rectangle 21"/>
          <p:cNvSpPr/>
          <p:nvPr/>
        </p:nvSpPr>
        <p:spPr>
          <a:xfrm>
            <a:off x="3735324" y="2779776"/>
            <a:ext cx="1673352" cy="402336"/>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5324" y="2779776"/>
            <a:ext cx="1673352" cy="402336"/>
          </a:xfrm>
          <a:prstGeom prst="rect">
            <a:avLst/>
          </a:prstGeom>
          <a:noFill/>
        </p:spPr>
        <p:txBody>
          <a:bodyPr wrap="square" anchor="ctr">
            <a:spAutoFit/>
          </a:bodyPr>
          <a:lstStyle/>
          <a:p>
            <a:pPr algn="ctr" marL="0" indent="0">
              <a:buNone/>
            </a:pPr>
            <a:r>
              <a:rPr sz="1100" b="1" i="0">
                <a:solidFill>
                  <a:srgbClr val="FFFFFF"/>
                </a:solidFill>
                <a:latin typeface="Arial"/>
              </a:rPr>
              <a:t>RELATIVE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National Identity Integration</a:t>
            </a:r>
          </a:p>
        </p:txBody>
      </p:sp>
      <p:sp>
        <p:nvSpPr>
          <p:cNvPr id="6" name="Rectangle 5"/>
          <p:cNvSpPr/>
          <p:nvPr/>
        </p:nvSpPr>
        <p:spPr>
          <a:xfrm>
            <a:off x="0" y="1453896"/>
            <a:ext cx="9144000" cy="59436"/>
          </a:xfrm>
          <a:prstGeom prst="rect">
            <a:avLst/>
          </a:prstGeom>
          <a:solidFill>
            <a:srgbClr val="BE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513332"/>
            <a:ext cx="9144000" cy="594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1572768"/>
            <a:ext cx="9144000" cy="5943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632204"/>
            <a:ext cx="9144000" cy="59436"/>
          </a:xfrm>
          <a:prstGeom prst="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773936"/>
            <a:ext cx="8595360" cy="270662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773936"/>
            <a:ext cx="64008" cy="2706624"/>
          </a:xfrm>
          <a:prstGeom prst="rect">
            <a:avLst/>
          </a:prstGeom>
          <a:solidFill>
            <a:srgbClr val="BE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20240"/>
            <a:ext cx="8321040" cy="2377440"/>
          </a:xfrm>
          <a:prstGeom prst="rect">
            <a:avLst/>
          </a:prstGeom>
          <a:noFill/>
        </p:spPr>
        <p:txBody>
          <a:bodyPr wrap="square" anchor="t">
            <a:spAutoFit/>
          </a:bodyPr>
          <a:lstStyle/>
          <a:p>
            <a:pPr marL="0" indent="0">
              <a:lnSpc>
                <a:spcPts val="2400"/>
              </a:lnSpc>
              <a:buNone/>
            </a:pPr>
            <a:r>
              <a:rPr sz="1600" b="0" i="0">
                <a:solidFill>
                  <a:srgbClr val="1A1A1A"/>
                </a:solidFill>
                <a:latin typeface="Arial"/>
              </a:rPr>
              <a:t>UAE Government Digital Services: UAE government and company websites share the same core pages, like About Us, Vision and Mission, and Contact Us, connected by one clear menu. Today you build that same structure for an F1 website, the sport of the Abu Dhabi Grand Prix.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STARTER</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Hook • Engage &amp; Ask</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5 - 10 minutes</a:t>
            </a:r>
          </a:p>
        </p:txBody>
      </p:sp>
      <p:sp>
        <p:nvSpPr>
          <p:cNvPr id="9" name="Rectangle 8"/>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Which Pages Does Every Website Have?</a:t>
            </a:r>
          </a:p>
          <a:p>
            <a:pPr marL="0" indent="0">
              <a:lnSpc>
                <a:spcPts val="2400"/>
              </a:lnSpc>
              <a:spcAft>
                <a:spcPts val="800"/>
              </a:spcAft>
              <a:buNone/>
            </a:pPr>
            <a:r>
              <a:rPr sz="1800" b="0" i="0">
                <a:solidFill>
                  <a:srgbClr val="1A1A1A"/>
                </a:solidFill>
                <a:latin typeface="Arial"/>
              </a:rPr>
              <a:t>Think of a website you use often.</a:t>
            </a:r>
          </a:p>
          <a:p>
            <a:pPr marL="0" indent="0">
              <a:lnSpc>
                <a:spcPts val="2400"/>
              </a:lnSpc>
              <a:spcAft>
                <a:spcPts val="800"/>
              </a:spcAft>
              <a:buNone/>
            </a:pPr>
            <a:r>
              <a:rPr sz="1800" b="0" i="0">
                <a:solidFill>
                  <a:srgbClr val="1A1A1A"/>
                </a:solidFill>
                <a:latin typeface="Arial"/>
              </a:rPr>
              <a:t>Which pages does it almost always have? Name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1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5760720" cy="1147571"/>
          </a:xfrm>
          <a:prstGeom prst="rect">
            <a:avLst/>
          </a:prstGeom>
          <a:noFill/>
        </p:spPr>
        <p:txBody>
          <a:bodyPr wrap="square" anchor="t">
            <a:spAutoFit/>
          </a:bodyPr>
          <a:lstStyle/>
          <a:p>
            <a:pPr marL="342900" indent="-342900">
              <a:lnSpc>
                <a:spcPts val="1700"/>
              </a:lnSpc>
              <a:spcAft>
                <a:spcPts val="600"/>
              </a:spcAft>
              <a:buSzPct val="100000"/>
              <a:buChar char="●"/>
            </a:pPr>
            <a:r>
              <a:rPr sz="1200" b="1" i="0">
                <a:solidFill>
                  <a:srgbClr val="1A1A1A"/>
                </a:solidFill>
                <a:latin typeface="Arial"/>
              </a:rPr>
              <a:t>I Do: One Folder, Four Files</a:t>
            </a:r>
          </a:p>
          <a:p>
            <a:pPr marL="0" indent="0">
              <a:lnSpc>
                <a:spcPts val="1700"/>
              </a:lnSpc>
              <a:spcAft>
                <a:spcPts val="600"/>
              </a:spcAft>
              <a:buNone/>
            </a:pPr>
            <a:r>
              <a:rPr sz="1200" b="0" i="0">
                <a:solidFill>
                  <a:srgbClr val="1A1A1A"/>
                </a:solidFill>
                <a:latin typeface="Arial"/>
              </a:rPr>
              <a:t>Every page is its own .html file, saved in the same folder.</a:t>
            </a:r>
          </a:p>
          <a:p>
            <a:pPr marL="0" indent="0">
              <a:lnSpc>
                <a:spcPts val="1700"/>
              </a:lnSpc>
              <a:spcAft>
                <a:spcPts val="600"/>
              </a:spcAft>
              <a:buNone/>
            </a:pPr>
            <a:r>
              <a:rPr sz="1200" b="0" i="0">
                <a:solidFill>
                  <a:srgbClr val="1A1A1A"/>
                </a:solidFill>
                <a:latin typeface="Arial"/>
              </a:rPr>
              <a:t>Every page starts with the same skeleton. Only the title and the text change.</a:t>
            </a:r>
          </a:p>
        </p:txBody>
      </p:sp>
      <p:sp>
        <p:nvSpPr>
          <p:cNvPr id="12" name="TextBox 11"/>
          <p:cNvSpPr txBox="1"/>
          <p:nvPr/>
        </p:nvSpPr>
        <p:spPr>
          <a:xfrm>
            <a:off x="2880360" y="2473451"/>
            <a:ext cx="5760720" cy="237744"/>
          </a:xfrm>
          <a:prstGeom prst="rect">
            <a:avLst/>
          </a:prstGeom>
          <a:noFill/>
        </p:spPr>
        <p:txBody>
          <a:bodyPr wrap="square" anchor="ctr">
            <a:spAutoFit/>
          </a:bodyPr>
          <a:lstStyle/>
          <a:p>
            <a:pPr marL="0" indent="0">
              <a:buNone/>
            </a:pPr>
            <a:r>
              <a:rPr sz="1100" b="0" i="1">
                <a:solidFill>
                  <a:srgbClr val="6B7785"/>
                </a:solidFill>
                <a:latin typeface="Arial"/>
              </a:rPr>
              <a:t>Example: the Home page skeleton (index.html)</a:t>
            </a:r>
          </a:p>
        </p:txBody>
      </p:sp>
      <p:sp>
        <p:nvSpPr>
          <p:cNvPr id="13" name="Rectangle 12"/>
          <p:cNvSpPr/>
          <p:nvPr/>
        </p:nvSpPr>
        <p:spPr>
          <a:xfrm>
            <a:off x="2880360" y="2766059"/>
            <a:ext cx="5760720" cy="166878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0088" y="2839211"/>
            <a:ext cx="5541264" cy="1559052"/>
          </a:xfrm>
          <a:prstGeom prst="rect">
            <a:avLst/>
          </a:prstGeom>
          <a:noFill/>
        </p:spPr>
        <p:txBody>
          <a:bodyPr wrap="square" anchor="t">
            <a:spAutoFit/>
          </a:bodyPr>
          <a:lstStyle/>
          <a:p>
            <a:pPr marL="0" indent="0">
              <a:buNone/>
            </a:pPr>
            <a:r>
              <a:rPr sz="1050" b="0" i="0">
                <a:solidFill>
                  <a:srgbClr val="CFE8F2"/>
                </a:solidFill>
                <a:latin typeface="Courier New"/>
              </a:rPr>
              <a:t>&lt;!DOCTYPE html&gt;</a:t>
            </a:r>
          </a:p>
          <a:p>
            <a:pPr marL="0" indent="0">
              <a:buNone/>
            </a:pPr>
            <a:r>
              <a:rPr sz="1050" b="0" i="0">
                <a:solidFill>
                  <a:srgbClr val="CFE8F2"/>
                </a:solidFill>
                <a:latin typeface="Courier New"/>
              </a:rPr>
              <a:t>&lt;html&gt;</a:t>
            </a:r>
          </a:p>
          <a:p>
            <a:pPr marL="0" indent="0">
              <a:buNone/>
            </a:pPr>
            <a:r>
              <a:rPr sz="1050" b="0" i="0">
                <a:solidFill>
                  <a:srgbClr val="CFE8F2"/>
                </a:solidFill>
                <a:latin typeface="Courier New"/>
              </a:rPr>
              <a:t>&lt;head&gt;</a:t>
            </a:r>
          </a:p>
          <a:p>
            <a:pPr marL="0" indent="0">
              <a:buNone/>
            </a:pPr>
            <a:r>
              <a:rPr sz="1050" b="0" i="0">
                <a:solidFill>
                  <a:srgbClr val="CFE8F2"/>
                </a:solidFill>
                <a:latin typeface="Courier New"/>
              </a:rPr>
              <a:t>  &lt;title&gt;F1 World - Home&lt;/title&gt;</a:t>
            </a:r>
          </a:p>
          <a:p>
            <a:pPr marL="0" indent="0">
              <a:buNone/>
            </a:pPr>
            <a:r>
              <a:rPr sz="1050" b="0" i="0">
                <a:solidFill>
                  <a:srgbClr val="CFE8F2"/>
                </a:solidFill>
                <a:latin typeface="Courier New"/>
              </a:rPr>
              <a:t>&lt;/head&gt;</a:t>
            </a:r>
          </a:p>
          <a:p>
            <a:pPr marL="0" indent="0">
              <a:buNone/>
            </a:pPr>
            <a:r>
              <a:rPr sz="1050" b="0" i="0">
                <a:solidFill>
                  <a:srgbClr val="CFE8F2"/>
                </a:solidFill>
                <a:latin typeface="Courier New"/>
              </a:rPr>
              <a:t>&lt;body&gt;</a:t>
            </a:r>
          </a:p>
          <a:p>
            <a:pPr marL="0" indent="0">
              <a:buNone/>
            </a:pPr>
            <a:r>
              <a:rPr sz="1050" b="0" i="0">
                <a:solidFill>
                  <a:srgbClr val="CFE8F2"/>
                </a:solidFill>
                <a:latin typeface="Courier New"/>
              </a:rPr>
              <a:t>  &lt;h1&gt;Welcome to F1 World&lt;/h1&gt;</a:t>
            </a:r>
          </a:p>
          <a:p>
            <a:pPr marL="0" indent="0">
              <a:buNone/>
            </a:pPr>
            <a:r>
              <a:rPr sz="1050" b="0" i="0">
                <a:solidFill>
                  <a:srgbClr val="CFE8F2"/>
                </a:solidFill>
                <a:latin typeface="Courier New"/>
              </a:rPr>
              <a:t>&lt;/body&gt;</a:t>
            </a:r>
          </a:p>
          <a:p>
            <a:pPr marL="0" indent="0">
              <a:buNone/>
            </a:pPr>
            <a:r>
              <a:rPr sz="1050" b="0" i="0">
                <a:solidFill>
                  <a:srgbClr val="CFE8F2"/>
                </a:solidFill>
                <a:latin typeface="Courier New"/>
              </a:rPr>
              <a:t>&lt;/html&gt;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2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We Do: Home Page and Menu Together</a:t>
            </a:r>
          </a:p>
          <a:p>
            <a:pPr marL="0" indent="0">
              <a:lnSpc>
                <a:spcPts val="2400"/>
              </a:lnSpc>
              <a:spcAft>
                <a:spcPts val="800"/>
              </a:spcAft>
              <a:buNone/>
            </a:pPr>
            <a:r>
              <a:rPr sz="1800" b="0" i="0">
                <a:solidFill>
                  <a:srgbClr val="1A1A1A"/>
                </a:solidFill>
                <a:latin typeface="Arial"/>
              </a:rPr>
              <a:t>Create index.html and add the Home page text from the Page Content sheet.</a:t>
            </a:r>
          </a:p>
          <a:p>
            <a:pPr marL="0" indent="0">
              <a:lnSpc>
                <a:spcPts val="2400"/>
              </a:lnSpc>
              <a:spcAft>
                <a:spcPts val="800"/>
              </a:spcAft>
              <a:buNone/>
            </a:pPr>
            <a:r>
              <a:rPr sz="1800" b="0" i="0">
                <a:solidFill>
                  <a:srgbClr val="1A1A1A"/>
                </a:solidFill>
                <a:latin typeface="Arial"/>
              </a:rPr>
              <a:t>Add the navigation menu at the top: Home, About Us, Contact Us, Vision and Mission.</a:t>
            </a:r>
          </a:p>
          <a:p>
            <a:pPr marL="0" indent="0">
              <a:lnSpc>
                <a:spcPts val="2400"/>
              </a:lnSpc>
              <a:spcAft>
                <a:spcPts val="800"/>
              </a:spcAft>
              <a:buNone/>
            </a:pPr>
            <a:r>
              <a:rPr sz="1800" b="0" i="0">
                <a:solidFill>
                  <a:srgbClr val="1A1A1A"/>
                </a:solidFill>
                <a:latin typeface="Arial"/>
              </a:rPr>
              <a:t>Save and open it in the browser.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3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3163824" cy="2971800"/>
          </a:xfrm>
          <a:prstGeom prst="rect">
            <a:avLst/>
          </a:prstGeom>
          <a:noFill/>
        </p:spPr>
        <p:txBody>
          <a:bodyPr wrap="square" anchor="t">
            <a:spAutoFit/>
          </a:bodyPr>
          <a:lstStyle/>
          <a:p>
            <a:pPr marL="342900" indent="-342900">
              <a:lnSpc>
                <a:spcPts val="2100"/>
              </a:lnSpc>
              <a:spcAft>
                <a:spcPts val="800"/>
              </a:spcAft>
              <a:buSzPct val="100000"/>
              <a:buChar char="●"/>
            </a:pPr>
            <a:r>
              <a:rPr sz="1600" b="1" i="0">
                <a:solidFill>
                  <a:srgbClr val="1A1A1A"/>
                </a:solidFill>
                <a:latin typeface="Arial"/>
              </a:rPr>
              <a:t>You Do: Build and Connect</a:t>
            </a:r>
          </a:p>
          <a:p>
            <a:pPr marL="0" indent="0">
              <a:lnSpc>
                <a:spcPts val="2100"/>
              </a:lnSpc>
              <a:spcAft>
                <a:spcPts val="800"/>
              </a:spcAft>
              <a:buNone/>
            </a:pPr>
            <a:r>
              <a:rPr sz="1600" b="0" i="0">
                <a:solidFill>
                  <a:srgbClr val="1A1A1A"/>
                </a:solidFill>
                <a:latin typeface="Arial"/>
              </a:rPr>
              <a:t>Build the other 3 pages from your Page Content sheet.</a:t>
            </a:r>
          </a:p>
          <a:p>
            <a:pPr marL="0" indent="0">
              <a:lnSpc>
                <a:spcPts val="2100"/>
              </a:lnSpc>
              <a:spcAft>
                <a:spcPts val="800"/>
              </a:spcAft>
              <a:buNone/>
            </a:pPr>
            <a:r>
              <a:rPr sz="1600" b="0" i="0">
                <a:solidFill>
                  <a:srgbClr val="1A1A1A"/>
                </a:solidFill>
                <a:latin typeface="Arial"/>
              </a:rPr>
              <a:t>Put the same menu at the top of every page, then test every link.</a:t>
            </a:r>
          </a:p>
        </p:txBody>
      </p:sp>
      <p:sp>
        <p:nvSpPr>
          <p:cNvPr id="12" name="TextBox 11"/>
          <p:cNvSpPr txBox="1"/>
          <p:nvPr/>
        </p:nvSpPr>
        <p:spPr>
          <a:xfrm>
            <a:off x="6236208" y="1280160"/>
            <a:ext cx="2404872" cy="384048"/>
          </a:xfrm>
          <a:prstGeom prst="rect">
            <a:avLst/>
          </a:prstGeom>
          <a:noFill/>
        </p:spPr>
        <p:txBody>
          <a:bodyPr wrap="square" anchor="t">
            <a:spAutoFit/>
          </a:bodyPr>
          <a:lstStyle/>
          <a:p>
            <a:pPr marL="0" indent="0">
              <a:buNone/>
            </a:pPr>
            <a:r>
              <a:rPr sz="1050" b="0" i="1">
                <a:solidFill>
                  <a:srgbClr val="6B7785"/>
                </a:solidFill>
                <a:latin typeface="Arial"/>
              </a:rPr>
              <a:t>Activity: F1 Website, Page Content</a:t>
            </a:r>
          </a:p>
        </p:txBody>
      </p:sp>
      <p:sp>
        <p:nvSpPr>
          <p:cNvPr id="13" name="Rectangle 12"/>
          <p:cNvSpPr/>
          <p:nvPr/>
        </p:nvSpPr>
        <p:spPr>
          <a:xfrm>
            <a:off x="6236208" y="1700784"/>
            <a:ext cx="2404872" cy="2551176"/>
          </a:xfrm>
          <a:prstGeom prst="rect">
            <a:avLst/>
          </a:prstGeom>
          <a:solidFill>
            <a:srgbClr val="FFFFFF"/>
          </a:solidFill>
          <a:ln w="12801">
            <a:solidFill>
              <a:srgbClr val="D8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5L3-page-content.png"/>
          <p:cNvPicPr>
            <a:picLocks noChangeAspect="1"/>
          </p:cNvPicPr>
          <p:nvPr/>
        </p:nvPicPr>
        <p:blipFill>
          <a:blip r:embed="rId4"/>
          <a:stretch>
            <a:fillRect/>
          </a:stretch>
        </p:blipFill>
        <p:spPr>
          <a:xfrm>
            <a:off x="6327648" y="1869948"/>
            <a:ext cx="2221992" cy="221193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CLOSURE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Transition &amp; Extend</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5 - 10 minutes</a:t>
            </a:r>
          </a:p>
        </p:txBody>
      </p:sp>
      <p:sp>
        <p:nvSpPr>
          <p:cNvPr id="9" name="Rectangle 8"/>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Click Through</a:t>
            </a:r>
          </a:p>
          <a:p>
            <a:pPr marL="0" indent="0">
              <a:lnSpc>
                <a:spcPts val="2400"/>
              </a:lnSpc>
              <a:spcAft>
                <a:spcPts val="800"/>
              </a:spcAft>
              <a:buNone/>
            </a:pPr>
            <a:r>
              <a:rPr sz="1800" b="0" i="0">
                <a:solidFill>
                  <a:srgbClr val="1A1A1A"/>
                </a:solidFill>
                <a:latin typeface="Arial"/>
              </a:rPr>
              <a:t>Show a partner you can reach every page from every other page using your menu.</a:t>
            </a:r>
          </a:p>
          <a:p>
            <a:pPr marL="0" indent="0">
              <a:lnSpc>
                <a:spcPts val="2400"/>
              </a:lnSpc>
              <a:spcAft>
                <a:spcPts val="800"/>
              </a:spcAft>
              <a:buNone/>
            </a:pPr>
            <a:r>
              <a:rPr sz="1800" b="0" i="0">
                <a:solidFill>
                  <a:srgbClr val="1A1A1A"/>
                </a:solidFill>
                <a:latin typeface="Arial"/>
              </a:rPr>
              <a:t>Next lesson: finish and check your site for the formative.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