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9144000" cy="4187952"/>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960120"/>
            <a:ext cx="182880" cy="4187952"/>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188720"/>
            <a:ext cx="8503920" cy="685800"/>
          </a:xfrm>
          <a:prstGeom prst="rect">
            <a:avLst/>
          </a:prstGeom>
          <a:noFill/>
        </p:spPr>
        <p:txBody>
          <a:bodyPr wrap="square" anchor="ctr">
            <a:spAutoFit/>
          </a:bodyPr>
          <a:lstStyle/>
          <a:p>
            <a:pPr marL="0" indent="0">
              <a:buNone/>
            </a:pPr>
            <a:r>
              <a:rPr sz="3200" b="1" i="0">
                <a:solidFill>
                  <a:srgbClr val="FFFFFF"/>
                </a:solidFill>
                <a:latin typeface="Arial"/>
              </a:rPr>
              <a:t>DESIGN 1</a:t>
            </a:r>
          </a:p>
        </p:txBody>
      </p:sp>
      <p:sp>
        <p:nvSpPr>
          <p:cNvPr id="7" name="TextBox 6"/>
          <p:cNvSpPr txBox="1"/>
          <p:nvPr/>
        </p:nvSpPr>
        <p:spPr>
          <a:xfrm>
            <a:off x="411480" y="1965960"/>
            <a:ext cx="8503920" cy="594360"/>
          </a:xfrm>
          <a:prstGeom prst="rect">
            <a:avLst/>
          </a:prstGeom>
          <a:noFill/>
        </p:spPr>
        <p:txBody>
          <a:bodyPr wrap="square" anchor="ctr">
            <a:spAutoFit/>
          </a:bodyPr>
          <a:lstStyle/>
          <a:p>
            <a:pPr marL="0" indent="0">
              <a:buNone/>
            </a:pPr>
            <a:r>
              <a:rPr sz="2100" b="0" i="0">
                <a:solidFill>
                  <a:srgbClr val="A8D4E8"/>
                </a:solidFill>
                <a:latin typeface="Arial"/>
              </a:rPr>
              <a:t>Lesson 3: Build an F1 Website: Four Pages</a:t>
            </a:r>
          </a:p>
        </p:txBody>
      </p:sp>
      <p:cxnSp>
        <p:nvCxnSpPr>
          <p:cNvPr id="8" name="Connector 7"/>
          <p:cNvCxnSpPr/>
          <p:nvPr/>
        </p:nvCxnSpPr>
        <p:spPr>
          <a:xfrm>
            <a:off x="411480" y="2606040"/>
            <a:ext cx="8321039" cy="0"/>
          </a:xfrm>
          <a:prstGeom prst="line">
            <a:avLst/>
          </a:prstGeom>
          <a:ln w="12801">
            <a:solidFill>
              <a:srgbClr val="0F9ED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11480" y="2743200"/>
            <a:ext cx="8503920" cy="320040"/>
          </a:xfrm>
          <a:prstGeom prst="rect">
            <a:avLst/>
          </a:prstGeom>
          <a:noFill/>
        </p:spPr>
        <p:txBody>
          <a:bodyPr wrap="square" anchor="ctr">
            <a:spAutoFit/>
          </a:bodyPr>
          <a:lstStyle/>
          <a:p>
            <a:pPr marL="0" indent="0">
              <a:buNone/>
            </a:pPr>
            <a:r>
              <a:rPr sz="1200" b="0" i="0">
                <a:solidFill>
                  <a:srgbClr val="8DC8E0"/>
                </a:solidFill>
                <a:latin typeface="Arial"/>
              </a:rPr>
              <a:t>Ms. Abboud   •   Grade 9 - Design 1   •   Term 1, Week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9144000" cy="3840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60120"/>
            <a:ext cx="8503920" cy="384048"/>
          </a:xfrm>
          <a:prstGeom prst="rect">
            <a:avLst/>
          </a:prstGeom>
          <a:noFill/>
        </p:spPr>
        <p:txBody>
          <a:bodyPr wrap="square" anchor="ctr">
            <a:spAutoFit/>
          </a:bodyPr>
          <a:lstStyle/>
          <a:p>
            <a:pPr marL="0" indent="0">
              <a:buNone/>
            </a:pPr>
            <a:r>
              <a:rPr sz="1600" b="1" i="0">
                <a:solidFill>
                  <a:srgbClr val="FFFFFF"/>
                </a:solidFill>
                <a:latin typeface="Arial"/>
              </a:rPr>
              <a:t>Learning Objectives</a:t>
            </a:r>
          </a:p>
        </p:txBody>
      </p:sp>
      <p:sp>
        <p:nvSpPr>
          <p:cNvPr id="6" name="Rectangle 5"/>
          <p:cNvSpPr/>
          <p:nvPr/>
        </p:nvSpPr>
        <p:spPr>
          <a:xfrm>
            <a:off x="274320" y="1453896"/>
            <a:ext cx="4160520" cy="3044952"/>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53896"/>
            <a:ext cx="4160520" cy="34747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53896"/>
            <a:ext cx="4160520" cy="347472"/>
          </a:xfrm>
          <a:prstGeom prst="rect">
            <a:avLst/>
          </a:prstGeom>
          <a:noFill/>
        </p:spPr>
        <p:txBody>
          <a:bodyPr wrap="square" anchor="ctr">
            <a:spAutoFit/>
          </a:bodyPr>
          <a:lstStyle/>
          <a:p>
            <a:pPr algn="ctr" marL="0" indent="0">
              <a:buNone/>
            </a:pPr>
            <a:r>
              <a:rPr sz="1300" b="1" i="0">
                <a:solidFill>
                  <a:srgbClr val="FFFFFF"/>
                </a:solidFill>
                <a:latin typeface="Arial"/>
              </a:rPr>
              <a:t>WALT - We Are Learning To</a:t>
            </a:r>
          </a:p>
        </p:txBody>
      </p:sp>
      <p:sp>
        <p:nvSpPr>
          <p:cNvPr id="9" name="TextBox 8"/>
          <p:cNvSpPr txBox="1"/>
          <p:nvPr/>
        </p:nvSpPr>
        <p:spPr>
          <a:xfrm>
            <a:off x="438912" y="1892807"/>
            <a:ext cx="3831336" cy="2514600"/>
          </a:xfrm>
          <a:prstGeom prst="rect">
            <a:avLst/>
          </a:prstGeom>
          <a:noFill/>
        </p:spPr>
        <p:txBody>
          <a:bodyPr wrap="square" anchor="t">
            <a:spAutoFit/>
          </a:bodyPr>
          <a:lstStyle/>
          <a:p>
            <a:pPr marL="342900" indent="-342900">
              <a:lnSpc>
                <a:spcPts val="2000"/>
              </a:lnSpc>
              <a:spcAft>
                <a:spcPts val="1000"/>
              </a:spcAft>
              <a:buSzPct val="100000"/>
              <a:buChar char="●"/>
            </a:pPr>
            <a:r>
              <a:rPr sz="1400" b="0" i="0">
                <a:solidFill>
                  <a:srgbClr val="1A1A1A"/>
                </a:solidFill>
                <a:latin typeface="Arial"/>
              </a:rPr>
              <a:t>Build a website with four pages from scratch.</a:t>
            </a:r>
          </a:p>
          <a:p>
            <a:pPr marL="342900" indent="-342900">
              <a:lnSpc>
                <a:spcPts val="2000"/>
              </a:lnSpc>
              <a:spcAft>
                <a:spcPts val="1000"/>
              </a:spcAft>
              <a:buSzPct val="100000"/>
              <a:buChar char="●"/>
            </a:pPr>
            <a:r>
              <a:rPr sz="1400" b="0" i="0">
                <a:solidFill>
                  <a:srgbClr val="1A1A1A"/>
                </a:solidFill>
                <a:latin typeface="Arial"/>
              </a:rPr>
              <a:t>Use headings, paragraphs and lists to organise the content.</a:t>
            </a:r>
          </a:p>
        </p:txBody>
      </p:sp>
      <p:sp>
        <p:nvSpPr>
          <p:cNvPr id="10" name="Rectangle 9"/>
          <p:cNvSpPr/>
          <p:nvPr/>
        </p:nvSpPr>
        <p:spPr>
          <a:xfrm>
            <a:off x="4709160" y="1453896"/>
            <a:ext cx="4160520" cy="3044952"/>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09160" y="1453896"/>
            <a:ext cx="4160520" cy="347472"/>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1453896"/>
            <a:ext cx="4160520" cy="347472"/>
          </a:xfrm>
          <a:prstGeom prst="rect">
            <a:avLst/>
          </a:prstGeom>
          <a:noFill/>
        </p:spPr>
        <p:txBody>
          <a:bodyPr wrap="square" anchor="ctr">
            <a:spAutoFit/>
          </a:bodyPr>
          <a:lstStyle/>
          <a:p>
            <a:pPr algn="ctr" marL="0" indent="0">
              <a:buNone/>
            </a:pPr>
            <a:r>
              <a:rPr sz="1300" b="1" i="0">
                <a:solidFill>
                  <a:srgbClr val="FFFFFF"/>
                </a:solidFill>
                <a:latin typeface="Arial"/>
              </a:rPr>
              <a:t>WILF - What I'm Looking For</a:t>
            </a:r>
          </a:p>
        </p:txBody>
      </p:sp>
      <p:sp>
        <p:nvSpPr>
          <p:cNvPr id="13" name="TextBox 12"/>
          <p:cNvSpPr txBox="1"/>
          <p:nvPr/>
        </p:nvSpPr>
        <p:spPr>
          <a:xfrm>
            <a:off x="4873752" y="1892807"/>
            <a:ext cx="3831336" cy="2514600"/>
          </a:xfrm>
          <a:prstGeom prst="rect">
            <a:avLst/>
          </a:prstGeom>
          <a:noFill/>
        </p:spPr>
        <p:txBody>
          <a:bodyPr wrap="square" anchor="t">
            <a:spAutoFit/>
          </a:bodyPr>
          <a:lstStyle/>
          <a:p>
            <a:pPr marL="342900" indent="-342900">
              <a:lnSpc>
                <a:spcPts val="2000"/>
              </a:lnSpc>
              <a:spcAft>
                <a:spcPts val="1000"/>
              </a:spcAft>
              <a:buSzPct val="100000"/>
              <a:buChar char="●"/>
            </a:pPr>
            <a:r>
              <a:rPr sz="1400" b="0" i="0">
                <a:solidFill>
                  <a:srgbClr val="1A1A1A"/>
                </a:solidFill>
                <a:latin typeface="Arial"/>
              </a:rPr>
              <a:t>All 4 files are created with the correct names.</a:t>
            </a:r>
          </a:p>
          <a:p>
            <a:pPr marL="342900" indent="-342900">
              <a:lnSpc>
                <a:spcPts val="2000"/>
              </a:lnSpc>
              <a:spcAft>
                <a:spcPts val="1000"/>
              </a:spcAft>
              <a:buSzPct val="100000"/>
              <a:buChar char="●"/>
            </a:pPr>
            <a:r>
              <a:rPr sz="1400" b="0" i="0">
                <a:solidFill>
                  <a:srgbClr val="1A1A1A"/>
                </a:solidFill>
                <a:latin typeface="Arial"/>
              </a:rPr>
              <a:t>Each page shows its heading and text in the browser.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9144000" cy="3840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60120"/>
            <a:ext cx="8503920" cy="384048"/>
          </a:xfrm>
          <a:prstGeom prst="rect">
            <a:avLst/>
          </a:prstGeom>
          <a:noFill/>
        </p:spPr>
        <p:txBody>
          <a:bodyPr wrap="square" anchor="ctr">
            <a:spAutoFit/>
          </a:bodyPr>
          <a:lstStyle/>
          <a:p>
            <a:pPr marL="0" indent="0">
              <a:buNone/>
            </a:pPr>
            <a:r>
              <a:rPr sz="1600" b="1" i="0">
                <a:solidFill>
                  <a:srgbClr val="FFFFFF"/>
                </a:solidFill>
                <a:latin typeface="Arial"/>
              </a:rPr>
              <a:t>Frayer Model: Relative Link (Review)</a:t>
            </a:r>
          </a:p>
        </p:txBody>
      </p:sp>
      <p:sp>
        <p:nvSpPr>
          <p:cNvPr id="6" name="Rectangle 5"/>
          <p:cNvSpPr/>
          <p:nvPr/>
        </p:nvSpPr>
        <p:spPr>
          <a:xfrm>
            <a:off x="274320" y="1453896"/>
            <a:ext cx="4242816" cy="1472184"/>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53896"/>
            <a:ext cx="4242816" cy="31089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53896"/>
            <a:ext cx="4242816" cy="310896"/>
          </a:xfrm>
          <a:prstGeom prst="rect">
            <a:avLst/>
          </a:prstGeom>
          <a:noFill/>
        </p:spPr>
        <p:txBody>
          <a:bodyPr wrap="square" anchor="ctr">
            <a:spAutoFit/>
          </a:bodyPr>
          <a:lstStyle/>
          <a:p>
            <a:pPr algn="ctr" marL="0" indent="0">
              <a:buNone/>
            </a:pPr>
            <a:r>
              <a:rPr sz="1200" b="1" i="0">
                <a:solidFill>
                  <a:srgbClr val="FFFFFF"/>
                </a:solidFill>
                <a:latin typeface="Arial"/>
              </a:rPr>
              <a:t>DEFINITION</a:t>
            </a:r>
          </a:p>
        </p:txBody>
      </p:sp>
      <p:sp>
        <p:nvSpPr>
          <p:cNvPr id="9" name="TextBox 8"/>
          <p:cNvSpPr txBox="1"/>
          <p:nvPr/>
        </p:nvSpPr>
        <p:spPr>
          <a:xfrm>
            <a:off x="420623" y="1837944"/>
            <a:ext cx="3950208" cy="1014984"/>
          </a:xfrm>
          <a:prstGeom prst="rect">
            <a:avLst/>
          </a:prstGeom>
          <a:noFill/>
        </p:spPr>
        <p:txBody>
          <a:bodyPr wrap="square" anchor="t">
            <a:spAutoFit/>
          </a:bodyPr>
          <a:lstStyle/>
          <a:p>
            <a:pPr marL="0" indent="0">
              <a:buNone/>
            </a:pPr>
            <a:r>
              <a:rPr sz="1300" b="0" i="0">
                <a:solidFill>
                  <a:srgbClr val="1A1A1A"/>
                </a:solidFill>
                <a:latin typeface="Arial"/>
              </a:rPr>
              <a:t>A link using just a filename or short path (e.g. about.html) to point to another page within the same project.</a:t>
            </a:r>
          </a:p>
        </p:txBody>
      </p:sp>
      <p:sp>
        <p:nvSpPr>
          <p:cNvPr id="10" name="Rectangle 9"/>
          <p:cNvSpPr/>
          <p:nvPr/>
        </p:nvSpPr>
        <p:spPr>
          <a:xfrm>
            <a:off x="4626864" y="1453896"/>
            <a:ext cx="4242816" cy="1472184"/>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26864" y="1453896"/>
            <a:ext cx="4242816" cy="310896"/>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1453896"/>
            <a:ext cx="4242816" cy="310896"/>
          </a:xfrm>
          <a:prstGeom prst="rect">
            <a:avLst/>
          </a:prstGeom>
          <a:noFill/>
        </p:spPr>
        <p:txBody>
          <a:bodyPr wrap="square" anchor="ctr">
            <a:spAutoFit/>
          </a:bodyPr>
          <a:lstStyle/>
          <a:p>
            <a:pPr algn="ctr" marL="0" indent="0">
              <a:buNone/>
            </a:pPr>
            <a:r>
              <a:rPr sz="1200" b="1" i="0">
                <a:solidFill>
                  <a:srgbClr val="FFFFFF"/>
                </a:solidFill>
                <a:latin typeface="Arial"/>
              </a:rPr>
              <a:t>CHARACTERISTICS</a:t>
            </a:r>
          </a:p>
        </p:txBody>
      </p:sp>
      <p:sp>
        <p:nvSpPr>
          <p:cNvPr id="13" name="TextBox 12"/>
          <p:cNvSpPr txBox="1"/>
          <p:nvPr/>
        </p:nvSpPr>
        <p:spPr>
          <a:xfrm>
            <a:off x="4773168" y="1837944"/>
            <a:ext cx="3950208" cy="1014984"/>
          </a:xfrm>
          <a:prstGeom prst="rect">
            <a:avLst/>
          </a:prstGeom>
          <a:noFill/>
        </p:spPr>
        <p:txBody>
          <a:bodyPr wrap="square" anchor="t">
            <a:spAutoFit/>
          </a:bodyPr>
          <a:lstStyle/>
          <a:p>
            <a:pPr marL="0" indent="0">
              <a:buNone/>
            </a:pPr>
            <a:r>
              <a:rPr sz="1300" b="0" i="0">
                <a:solidFill>
                  <a:srgbClr val="1A1A1A"/>
                </a:solidFill>
                <a:latin typeface="Arial"/>
              </a:rPr>
              <a:t>Just a filename/path; no https://; points within the same project.</a:t>
            </a:r>
          </a:p>
        </p:txBody>
      </p:sp>
      <p:sp>
        <p:nvSpPr>
          <p:cNvPr id="14" name="Rectangle 13"/>
          <p:cNvSpPr/>
          <p:nvPr/>
        </p:nvSpPr>
        <p:spPr>
          <a:xfrm>
            <a:off x="274320" y="3035808"/>
            <a:ext cx="4242816" cy="1472184"/>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3035808"/>
            <a:ext cx="4242816" cy="310896"/>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3035808"/>
            <a:ext cx="4242816" cy="310896"/>
          </a:xfrm>
          <a:prstGeom prst="rect">
            <a:avLst/>
          </a:prstGeom>
          <a:noFill/>
        </p:spPr>
        <p:txBody>
          <a:bodyPr wrap="square" anchor="ctr">
            <a:spAutoFit/>
          </a:bodyPr>
          <a:lstStyle/>
          <a:p>
            <a:pPr algn="ctr" marL="0" indent="0">
              <a:buNone/>
            </a:pPr>
            <a:r>
              <a:rPr sz="1200" b="1" i="0">
                <a:solidFill>
                  <a:srgbClr val="FFFFFF"/>
                </a:solidFill>
                <a:latin typeface="Arial"/>
              </a:rPr>
              <a:t>EXAMPLES</a:t>
            </a:r>
          </a:p>
        </p:txBody>
      </p:sp>
      <p:sp>
        <p:nvSpPr>
          <p:cNvPr id="17" name="TextBox 16"/>
          <p:cNvSpPr txBox="1"/>
          <p:nvPr/>
        </p:nvSpPr>
        <p:spPr>
          <a:xfrm>
            <a:off x="420623" y="3419856"/>
            <a:ext cx="3950208" cy="1014984"/>
          </a:xfrm>
          <a:prstGeom prst="rect">
            <a:avLst/>
          </a:prstGeom>
          <a:noFill/>
        </p:spPr>
        <p:txBody>
          <a:bodyPr wrap="square" anchor="t">
            <a:spAutoFit/>
          </a:bodyPr>
          <a:lstStyle/>
          <a:p>
            <a:pPr marL="0" indent="0">
              <a:buNone/>
            </a:pPr>
            <a:r>
              <a:rPr sz="1300" b="0" i="0">
                <a:solidFill>
                  <a:srgbClr val="1A1A1A"/>
                </a:solidFill>
                <a:latin typeface="Arial"/>
              </a:rPr>
              <a:t>href="about.html"</a:t>
            </a:r>
          </a:p>
        </p:txBody>
      </p:sp>
      <p:sp>
        <p:nvSpPr>
          <p:cNvPr id="18" name="Rectangle 17"/>
          <p:cNvSpPr/>
          <p:nvPr/>
        </p:nvSpPr>
        <p:spPr>
          <a:xfrm>
            <a:off x="4626864" y="3035808"/>
            <a:ext cx="4242816" cy="1472184"/>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26864" y="3035808"/>
            <a:ext cx="4242816" cy="310896"/>
          </a:xfrm>
          <a:prstGeom prst="rect">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26864" y="3035808"/>
            <a:ext cx="4242816" cy="310896"/>
          </a:xfrm>
          <a:prstGeom prst="rect">
            <a:avLst/>
          </a:prstGeom>
          <a:noFill/>
        </p:spPr>
        <p:txBody>
          <a:bodyPr wrap="square" anchor="ctr">
            <a:spAutoFit/>
          </a:bodyPr>
          <a:lstStyle/>
          <a:p>
            <a:pPr algn="ctr" marL="0" indent="0">
              <a:buNone/>
            </a:pPr>
            <a:r>
              <a:rPr sz="1200" b="1" i="0">
                <a:solidFill>
                  <a:srgbClr val="FFFFFF"/>
                </a:solidFill>
                <a:latin typeface="Arial"/>
              </a:rPr>
              <a:t>NON-EXAMPLES</a:t>
            </a:r>
          </a:p>
        </p:txBody>
      </p:sp>
      <p:sp>
        <p:nvSpPr>
          <p:cNvPr id="21" name="TextBox 20"/>
          <p:cNvSpPr txBox="1"/>
          <p:nvPr/>
        </p:nvSpPr>
        <p:spPr>
          <a:xfrm>
            <a:off x="4773168" y="3419856"/>
            <a:ext cx="3950208" cy="1014984"/>
          </a:xfrm>
          <a:prstGeom prst="rect">
            <a:avLst/>
          </a:prstGeom>
          <a:noFill/>
        </p:spPr>
        <p:txBody>
          <a:bodyPr wrap="square" anchor="t">
            <a:spAutoFit/>
          </a:bodyPr>
          <a:lstStyle/>
          <a:p>
            <a:pPr marL="0" indent="0">
              <a:buNone/>
            </a:pPr>
            <a:r>
              <a:rPr sz="1300" b="0" i="0">
                <a:solidFill>
                  <a:srgbClr val="1A1A1A"/>
                </a:solidFill>
                <a:latin typeface="Arial"/>
              </a:rPr>
              <a:t>href="https://www.wikipedia.org" (an absolute link)</a:t>
            </a:r>
          </a:p>
        </p:txBody>
      </p:sp>
      <p:sp>
        <p:nvSpPr>
          <p:cNvPr id="22" name="Rectangle 21"/>
          <p:cNvSpPr/>
          <p:nvPr/>
        </p:nvSpPr>
        <p:spPr>
          <a:xfrm>
            <a:off x="3735324" y="2779776"/>
            <a:ext cx="1673352" cy="402336"/>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35324" y="2779776"/>
            <a:ext cx="1673352" cy="402336"/>
          </a:xfrm>
          <a:prstGeom prst="rect">
            <a:avLst/>
          </a:prstGeom>
          <a:noFill/>
        </p:spPr>
        <p:txBody>
          <a:bodyPr wrap="square" anchor="ctr">
            <a:spAutoFit/>
          </a:bodyPr>
          <a:lstStyle/>
          <a:p>
            <a:pPr algn="ctr" marL="0" indent="0">
              <a:buNone/>
            </a:pPr>
            <a:r>
              <a:rPr sz="1100" b="1" i="0">
                <a:solidFill>
                  <a:srgbClr val="FFFFFF"/>
                </a:solidFill>
                <a:latin typeface="Arial"/>
              </a:rPr>
              <a:t>RELATIVE LINK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9144000" cy="3840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60120"/>
            <a:ext cx="8503920" cy="384048"/>
          </a:xfrm>
          <a:prstGeom prst="rect">
            <a:avLst/>
          </a:prstGeom>
          <a:noFill/>
        </p:spPr>
        <p:txBody>
          <a:bodyPr wrap="square" anchor="ctr">
            <a:spAutoFit/>
          </a:bodyPr>
          <a:lstStyle/>
          <a:p>
            <a:pPr marL="0" indent="0">
              <a:buNone/>
            </a:pPr>
            <a:r>
              <a:rPr sz="1600" b="1" i="0">
                <a:solidFill>
                  <a:srgbClr val="FFFFFF"/>
                </a:solidFill>
                <a:latin typeface="Arial"/>
              </a:rPr>
              <a:t>National Identity Integration</a:t>
            </a:r>
          </a:p>
        </p:txBody>
      </p:sp>
      <p:sp>
        <p:nvSpPr>
          <p:cNvPr id="6" name="Rectangle 5"/>
          <p:cNvSpPr/>
          <p:nvPr/>
        </p:nvSpPr>
        <p:spPr>
          <a:xfrm>
            <a:off x="0" y="1453896"/>
            <a:ext cx="9144000" cy="59436"/>
          </a:xfrm>
          <a:prstGeom prst="rect">
            <a:avLst/>
          </a:prstGeom>
          <a:solidFill>
            <a:srgbClr val="BE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513332"/>
            <a:ext cx="9144000" cy="594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1572768"/>
            <a:ext cx="9144000" cy="5943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632204"/>
            <a:ext cx="9144000" cy="59436"/>
          </a:xfrm>
          <a:prstGeom prst="rect">
            <a:avLst/>
          </a:prstGeom>
          <a:solidFill>
            <a:srgbClr val="008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773936"/>
            <a:ext cx="8595360" cy="2706624"/>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773936"/>
            <a:ext cx="64008" cy="2706624"/>
          </a:xfrm>
          <a:prstGeom prst="rect">
            <a:avLst/>
          </a:prstGeom>
          <a:solidFill>
            <a:srgbClr val="BE0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920240"/>
            <a:ext cx="8321040" cy="2377440"/>
          </a:xfrm>
          <a:prstGeom prst="rect">
            <a:avLst/>
          </a:prstGeom>
          <a:noFill/>
        </p:spPr>
        <p:txBody>
          <a:bodyPr wrap="square" anchor="t">
            <a:spAutoFit/>
          </a:bodyPr>
          <a:lstStyle/>
          <a:p>
            <a:pPr marL="0" indent="0">
              <a:lnSpc>
                <a:spcPts val="2400"/>
              </a:lnSpc>
              <a:buNone/>
            </a:pPr>
            <a:r>
              <a:rPr sz="1600" b="0" i="0">
                <a:solidFill>
                  <a:srgbClr val="1A1A1A"/>
                </a:solidFill>
                <a:latin typeface="Arial"/>
              </a:rPr>
              <a:t>UAE Government Digital Services: UAE government and company websites share the same core pages, like About Us, Vision and Mission, and Contact Us, so people always know where to look. Today you build that same structure for an F1 website, the sport of the Abu Dhabi Grand Prix.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2377440" cy="362102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143000"/>
            <a:ext cx="2377440" cy="502920"/>
          </a:xfrm>
          <a:prstGeom prst="rect">
            <a:avLst/>
          </a:prstGeom>
          <a:noFill/>
        </p:spPr>
        <p:txBody>
          <a:bodyPr wrap="square" anchor="ctr">
            <a:spAutoFit/>
          </a:bodyPr>
          <a:lstStyle/>
          <a:p>
            <a:pPr algn="ctr" marL="0" indent="0">
              <a:buNone/>
            </a:pPr>
            <a:r>
              <a:rPr sz="1800" b="1" i="0">
                <a:solidFill>
                  <a:srgbClr val="FFFFFF"/>
                </a:solidFill>
                <a:latin typeface="Arial"/>
              </a:rPr>
              <a:t>STARTER</a:t>
            </a:r>
          </a:p>
        </p:txBody>
      </p:sp>
      <p:sp>
        <p:nvSpPr>
          <p:cNvPr id="6" name="TextBox 5"/>
          <p:cNvSpPr txBox="1"/>
          <p:nvPr/>
        </p:nvSpPr>
        <p:spPr>
          <a:xfrm>
            <a:off x="228600" y="1691640"/>
            <a:ext cx="1920240" cy="457200"/>
          </a:xfrm>
          <a:prstGeom prst="rect">
            <a:avLst/>
          </a:prstGeom>
          <a:noFill/>
        </p:spPr>
        <p:txBody>
          <a:bodyPr wrap="square" anchor="ctr">
            <a:spAutoFit/>
          </a:bodyPr>
          <a:lstStyle/>
          <a:p>
            <a:pPr algn="ctr" marL="0" indent="0">
              <a:buNone/>
            </a:pPr>
            <a:r>
              <a:rPr sz="1200" b="0" i="0">
                <a:solidFill>
                  <a:srgbClr val="CFE8F2"/>
                </a:solidFill>
                <a:latin typeface="Arial"/>
              </a:rPr>
              <a:t>Hook • Engage &amp; Ask</a:t>
            </a:r>
          </a:p>
        </p:txBody>
      </p:sp>
      <p:cxnSp>
        <p:nvCxnSpPr>
          <p:cNvPr id="7" name="Connector 6"/>
          <p:cNvCxnSpPr/>
          <p:nvPr/>
        </p:nvCxnSpPr>
        <p:spPr>
          <a:xfrm>
            <a:off x="320040" y="2194560"/>
            <a:ext cx="1737360" cy="0"/>
          </a:xfrm>
          <a:prstGeom prst="line">
            <a:avLst/>
          </a:prstGeom>
          <a:ln w="9144">
            <a:solidFill>
              <a:srgbClr val="CFE8F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8600" y="2331720"/>
            <a:ext cx="1920240" cy="365760"/>
          </a:xfrm>
          <a:prstGeom prst="rect">
            <a:avLst/>
          </a:prstGeom>
          <a:noFill/>
        </p:spPr>
        <p:txBody>
          <a:bodyPr wrap="square" anchor="ctr">
            <a:spAutoFit/>
          </a:bodyPr>
          <a:lstStyle/>
          <a:p>
            <a:pPr algn="ctr" marL="0" indent="0">
              <a:buNone/>
            </a:pPr>
            <a:r>
              <a:rPr sz="1100" b="1" i="0">
                <a:solidFill>
                  <a:srgbClr val="CFE8F2"/>
                </a:solidFill>
                <a:latin typeface="Arial"/>
              </a:rPr>
              <a:t>5 - 10 minutes</a:t>
            </a:r>
          </a:p>
        </p:txBody>
      </p:sp>
      <p:sp>
        <p:nvSpPr>
          <p:cNvPr id="9" name="Rectangle 8"/>
          <p:cNvSpPr/>
          <p:nvPr/>
        </p:nvSpPr>
        <p:spPr>
          <a:xfrm>
            <a:off x="2651760" y="1097280"/>
            <a:ext cx="6217920" cy="3337560"/>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1280160"/>
            <a:ext cx="5760720" cy="2971800"/>
          </a:xfrm>
          <a:prstGeom prst="rect">
            <a:avLst/>
          </a:prstGeom>
          <a:noFill/>
        </p:spPr>
        <p:txBody>
          <a:bodyPr wrap="square" anchor="t">
            <a:spAutoFit/>
          </a:bodyPr>
          <a:lstStyle/>
          <a:p>
            <a:pPr marL="342900" indent="-342900">
              <a:lnSpc>
                <a:spcPts val="2400"/>
              </a:lnSpc>
              <a:spcAft>
                <a:spcPts val="800"/>
              </a:spcAft>
              <a:buSzPct val="100000"/>
              <a:buChar char="●"/>
            </a:pPr>
            <a:r>
              <a:rPr sz="1800" b="1" i="0">
                <a:solidFill>
                  <a:srgbClr val="1A1A1A"/>
                </a:solidFill>
                <a:latin typeface="Arial"/>
              </a:rPr>
              <a:t>Which Pages Does Every Website Have?</a:t>
            </a:r>
          </a:p>
          <a:p>
            <a:pPr marL="0" indent="0">
              <a:lnSpc>
                <a:spcPts val="2400"/>
              </a:lnSpc>
              <a:spcAft>
                <a:spcPts val="800"/>
              </a:spcAft>
              <a:buNone/>
            </a:pPr>
            <a:r>
              <a:rPr sz="1800" b="0" i="0">
                <a:solidFill>
                  <a:srgbClr val="1A1A1A"/>
                </a:solidFill>
                <a:latin typeface="Arial"/>
              </a:rPr>
              <a:t>Think of a website you use often.</a:t>
            </a:r>
          </a:p>
          <a:p>
            <a:pPr marL="0" indent="0">
              <a:lnSpc>
                <a:spcPts val="2400"/>
              </a:lnSpc>
              <a:spcAft>
                <a:spcPts val="800"/>
              </a:spcAft>
              <a:buNone/>
            </a:pPr>
            <a:r>
              <a:rPr sz="1800" b="0" i="0">
                <a:solidFill>
                  <a:srgbClr val="1A1A1A"/>
                </a:solidFill>
                <a:latin typeface="Arial"/>
              </a:rPr>
              <a:t>Which pages does it almost always have? Name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2377440" cy="3621024"/>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143000"/>
            <a:ext cx="2377440" cy="502920"/>
          </a:xfrm>
          <a:prstGeom prst="rect">
            <a:avLst/>
          </a:prstGeom>
          <a:noFill/>
        </p:spPr>
        <p:txBody>
          <a:bodyPr wrap="square" anchor="ctr">
            <a:spAutoFit/>
          </a:bodyPr>
          <a:lstStyle/>
          <a:p>
            <a:pPr algn="ctr" marL="0" indent="0">
              <a:buNone/>
            </a:pPr>
            <a:r>
              <a:rPr sz="1800" b="1" i="0">
                <a:solidFill>
                  <a:srgbClr val="FFFFFF"/>
                </a:solidFill>
                <a:latin typeface="Arial"/>
              </a:rPr>
              <a:t>LESSON CORE</a:t>
            </a:r>
          </a:p>
        </p:txBody>
      </p:sp>
      <p:sp>
        <p:nvSpPr>
          <p:cNvPr id="6" name="TextBox 5"/>
          <p:cNvSpPr txBox="1"/>
          <p:nvPr/>
        </p:nvSpPr>
        <p:spPr>
          <a:xfrm>
            <a:off x="228600" y="1691640"/>
            <a:ext cx="1920240" cy="457200"/>
          </a:xfrm>
          <a:prstGeom prst="rect">
            <a:avLst/>
          </a:prstGeom>
          <a:noFill/>
        </p:spPr>
        <p:txBody>
          <a:bodyPr wrap="square" anchor="ctr">
            <a:spAutoFit/>
          </a:bodyPr>
          <a:lstStyle/>
          <a:p>
            <a:pPr algn="ctr" marL="0" indent="0">
              <a:buNone/>
            </a:pPr>
            <a:r>
              <a:rPr sz="1200" b="0" i="0">
                <a:solidFill>
                  <a:srgbClr val="CFE8F2"/>
                </a:solidFill>
                <a:latin typeface="Arial"/>
              </a:rPr>
              <a:t>Gradual Release of Responsibility</a:t>
            </a:r>
          </a:p>
        </p:txBody>
      </p:sp>
      <p:cxnSp>
        <p:nvCxnSpPr>
          <p:cNvPr id="7" name="Connector 6"/>
          <p:cNvCxnSpPr/>
          <p:nvPr/>
        </p:nvCxnSpPr>
        <p:spPr>
          <a:xfrm>
            <a:off x="320040" y="2194560"/>
            <a:ext cx="1737360" cy="0"/>
          </a:xfrm>
          <a:prstGeom prst="line">
            <a:avLst/>
          </a:prstGeom>
          <a:ln w="9144">
            <a:solidFill>
              <a:srgbClr val="CFE8F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8600" y="2331720"/>
            <a:ext cx="1920240" cy="365760"/>
          </a:xfrm>
          <a:prstGeom prst="rect">
            <a:avLst/>
          </a:prstGeom>
          <a:noFill/>
        </p:spPr>
        <p:txBody>
          <a:bodyPr wrap="square" anchor="ctr">
            <a:spAutoFit/>
          </a:bodyPr>
          <a:lstStyle/>
          <a:p>
            <a:pPr algn="ctr" marL="0" indent="0">
              <a:buNone/>
            </a:pPr>
            <a:r>
              <a:rPr sz="1100" b="1" i="0">
                <a:solidFill>
                  <a:srgbClr val="CFE8F2"/>
                </a:solidFill>
                <a:latin typeface="Arial"/>
              </a:rPr>
              <a:t>30 - 40 minutes</a:t>
            </a:r>
          </a:p>
        </p:txBody>
      </p:sp>
      <p:sp>
        <p:nvSpPr>
          <p:cNvPr id="9" name="TextBox 8"/>
          <p:cNvSpPr txBox="1"/>
          <p:nvPr/>
        </p:nvSpPr>
        <p:spPr>
          <a:xfrm>
            <a:off x="228600" y="4114800"/>
            <a:ext cx="1920240" cy="320040"/>
          </a:xfrm>
          <a:prstGeom prst="rect">
            <a:avLst/>
          </a:prstGeom>
          <a:noFill/>
        </p:spPr>
        <p:txBody>
          <a:bodyPr wrap="square" anchor="ctr">
            <a:spAutoFit/>
          </a:bodyPr>
          <a:lstStyle/>
          <a:p>
            <a:pPr algn="ctr" marL="0" indent="0">
              <a:buNone/>
            </a:pPr>
            <a:r>
              <a:rPr sz="1100" b="0" i="0">
                <a:solidFill>
                  <a:srgbClr val="CFE8F2"/>
                </a:solidFill>
                <a:latin typeface="Arial"/>
              </a:rPr>
              <a:t>1 / 3</a:t>
            </a:r>
          </a:p>
        </p:txBody>
      </p:sp>
      <p:sp>
        <p:nvSpPr>
          <p:cNvPr id="10" name="Rectangle 9"/>
          <p:cNvSpPr/>
          <p:nvPr/>
        </p:nvSpPr>
        <p:spPr>
          <a:xfrm>
            <a:off x="2651760" y="1097280"/>
            <a:ext cx="6217920" cy="3337560"/>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280160"/>
            <a:ext cx="5760720" cy="1147571"/>
          </a:xfrm>
          <a:prstGeom prst="rect">
            <a:avLst/>
          </a:prstGeom>
          <a:noFill/>
        </p:spPr>
        <p:txBody>
          <a:bodyPr wrap="square" anchor="t">
            <a:spAutoFit/>
          </a:bodyPr>
          <a:lstStyle/>
          <a:p>
            <a:pPr marL="342900" indent="-342900">
              <a:lnSpc>
                <a:spcPts val="1700"/>
              </a:lnSpc>
              <a:spcAft>
                <a:spcPts val="600"/>
              </a:spcAft>
              <a:buSzPct val="100000"/>
              <a:buChar char="●"/>
            </a:pPr>
            <a:r>
              <a:rPr sz="1200" b="1" i="0">
                <a:solidFill>
                  <a:srgbClr val="1A1A1A"/>
                </a:solidFill>
                <a:latin typeface="Arial"/>
              </a:rPr>
              <a:t>I Do: One Folder, Four Files</a:t>
            </a:r>
          </a:p>
          <a:p>
            <a:pPr marL="0" indent="0">
              <a:lnSpc>
                <a:spcPts val="1700"/>
              </a:lnSpc>
              <a:spcAft>
                <a:spcPts val="600"/>
              </a:spcAft>
              <a:buNone/>
            </a:pPr>
            <a:r>
              <a:rPr sz="1200" b="0" i="0">
                <a:solidFill>
                  <a:srgbClr val="1A1A1A"/>
                </a:solidFill>
                <a:latin typeface="Arial"/>
              </a:rPr>
              <a:t>Every page is its own .html file, saved in the same folder.</a:t>
            </a:r>
          </a:p>
          <a:p>
            <a:pPr marL="0" indent="0">
              <a:lnSpc>
                <a:spcPts val="1700"/>
              </a:lnSpc>
              <a:spcAft>
                <a:spcPts val="600"/>
              </a:spcAft>
              <a:buNone/>
            </a:pPr>
            <a:r>
              <a:rPr sz="1200" b="0" i="0">
                <a:solidFill>
                  <a:srgbClr val="1A1A1A"/>
                </a:solidFill>
                <a:latin typeface="Arial"/>
              </a:rPr>
              <a:t>Every page starts with the same skeleton. Only the title and the text change.</a:t>
            </a:r>
          </a:p>
        </p:txBody>
      </p:sp>
      <p:sp>
        <p:nvSpPr>
          <p:cNvPr id="12" name="TextBox 11"/>
          <p:cNvSpPr txBox="1"/>
          <p:nvPr/>
        </p:nvSpPr>
        <p:spPr>
          <a:xfrm>
            <a:off x="2880360" y="2473451"/>
            <a:ext cx="5760720" cy="237744"/>
          </a:xfrm>
          <a:prstGeom prst="rect">
            <a:avLst/>
          </a:prstGeom>
          <a:noFill/>
        </p:spPr>
        <p:txBody>
          <a:bodyPr wrap="square" anchor="ctr">
            <a:spAutoFit/>
          </a:bodyPr>
          <a:lstStyle/>
          <a:p>
            <a:pPr marL="0" indent="0">
              <a:buNone/>
            </a:pPr>
            <a:r>
              <a:rPr sz="1100" b="0" i="1">
                <a:solidFill>
                  <a:srgbClr val="6B7785"/>
                </a:solidFill>
                <a:latin typeface="Arial"/>
              </a:rPr>
              <a:t>Example: the Home page (index.html)</a:t>
            </a:r>
          </a:p>
        </p:txBody>
      </p:sp>
      <p:sp>
        <p:nvSpPr>
          <p:cNvPr id="13" name="Rectangle 12"/>
          <p:cNvSpPr/>
          <p:nvPr/>
        </p:nvSpPr>
        <p:spPr>
          <a:xfrm>
            <a:off x="2880360" y="2766059"/>
            <a:ext cx="5760720" cy="166878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90088" y="2839211"/>
            <a:ext cx="5541264" cy="1559052"/>
          </a:xfrm>
          <a:prstGeom prst="rect">
            <a:avLst/>
          </a:prstGeom>
          <a:noFill/>
        </p:spPr>
        <p:txBody>
          <a:bodyPr wrap="square" anchor="t">
            <a:spAutoFit/>
          </a:bodyPr>
          <a:lstStyle/>
          <a:p>
            <a:pPr marL="0" indent="0">
              <a:buNone/>
            </a:pPr>
            <a:r>
              <a:rPr sz="1050" b="0" i="0">
                <a:solidFill>
                  <a:srgbClr val="CFE8F2"/>
                </a:solidFill>
                <a:latin typeface="Courier New"/>
              </a:rPr>
              <a:t>&lt;!DOCTYPE html&gt;</a:t>
            </a:r>
          </a:p>
          <a:p>
            <a:pPr marL="0" indent="0">
              <a:buNone/>
            </a:pPr>
            <a:r>
              <a:rPr sz="1050" b="0" i="0">
                <a:solidFill>
                  <a:srgbClr val="CFE8F2"/>
                </a:solidFill>
                <a:latin typeface="Courier New"/>
              </a:rPr>
              <a:t>&lt;html&gt;</a:t>
            </a:r>
          </a:p>
          <a:p>
            <a:pPr marL="0" indent="0">
              <a:buNone/>
            </a:pPr>
            <a:r>
              <a:rPr sz="1050" b="0" i="0">
                <a:solidFill>
                  <a:srgbClr val="CFE8F2"/>
                </a:solidFill>
                <a:latin typeface="Courier New"/>
              </a:rPr>
              <a:t>&lt;head&gt;</a:t>
            </a:r>
          </a:p>
          <a:p>
            <a:pPr marL="0" indent="0">
              <a:buNone/>
            </a:pPr>
            <a:r>
              <a:rPr sz="1050" b="0" i="0">
                <a:solidFill>
                  <a:srgbClr val="CFE8F2"/>
                </a:solidFill>
                <a:latin typeface="Courier New"/>
              </a:rPr>
              <a:t>  &lt;title&gt;F1 World - Home&lt;/title&gt;</a:t>
            </a:r>
          </a:p>
          <a:p>
            <a:pPr marL="0" indent="0">
              <a:buNone/>
            </a:pPr>
            <a:r>
              <a:rPr sz="1050" b="0" i="0">
                <a:solidFill>
                  <a:srgbClr val="CFE8F2"/>
                </a:solidFill>
                <a:latin typeface="Courier New"/>
              </a:rPr>
              <a:t>&lt;/head&gt;</a:t>
            </a:r>
          </a:p>
          <a:p>
            <a:pPr marL="0" indent="0">
              <a:buNone/>
            </a:pPr>
            <a:r>
              <a:rPr sz="1050" b="0" i="0">
                <a:solidFill>
                  <a:srgbClr val="CFE8F2"/>
                </a:solidFill>
                <a:latin typeface="Courier New"/>
              </a:rPr>
              <a:t>&lt;body&gt;</a:t>
            </a:r>
          </a:p>
          <a:p>
            <a:pPr marL="0" indent="0">
              <a:buNone/>
            </a:pPr>
            <a:r>
              <a:rPr sz="1050" b="0" i="0">
                <a:solidFill>
                  <a:srgbClr val="CFE8F2"/>
                </a:solidFill>
                <a:latin typeface="Courier New"/>
              </a:rPr>
              <a:t>  &lt;h1&gt;Welcome to F1 World&lt;/h1&gt;</a:t>
            </a:r>
          </a:p>
          <a:p>
            <a:pPr marL="0" indent="0">
              <a:buNone/>
            </a:pPr>
            <a:r>
              <a:rPr sz="1050" b="0" i="0">
                <a:solidFill>
                  <a:srgbClr val="CFE8F2"/>
                </a:solidFill>
                <a:latin typeface="Courier New"/>
              </a:rPr>
              <a:t>&lt;/body&gt;</a:t>
            </a:r>
          </a:p>
          <a:p>
            <a:pPr marL="0" indent="0">
              <a:buNone/>
            </a:pPr>
            <a:r>
              <a:rPr sz="1050" b="0" i="0">
                <a:solidFill>
                  <a:srgbClr val="CFE8F2"/>
                </a:solidFill>
                <a:latin typeface="Courier New"/>
              </a:rPr>
              <a:t>&lt;/html&gt;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2377440" cy="3621024"/>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143000"/>
            <a:ext cx="2377440" cy="502920"/>
          </a:xfrm>
          <a:prstGeom prst="rect">
            <a:avLst/>
          </a:prstGeom>
          <a:noFill/>
        </p:spPr>
        <p:txBody>
          <a:bodyPr wrap="square" anchor="ctr">
            <a:spAutoFit/>
          </a:bodyPr>
          <a:lstStyle/>
          <a:p>
            <a:pPr algn="ctr" marL="0" indent="0">
              <a:buNone/>
            </a:pPr>
            <a:r>
              <a:rPr sz="1800" b="1" i="0">
                <a:solidFill>
                  <a:srgbClr val="FFFFFF"/>
                </a:solidFill>
                <a:latin typeface="Arial"/>
              </a:rPr>
              <a:t>LESSON CORE</a:t>
            </a:r>
          </a:p>
        </p:txBody>
      </p:sp>
      <p:sp>
        <p:nvSpPr>
          <p:cNvPr id="6" name="TextBox 5"/>
          <p:cNvSpPr txBox="1"/>
          <p:nvPr/>
        </p:nvSpPr>
        <p:spPr>
          <a:xfrm>
            <a:off x="228600" y="1691640"/>
            <a:ext cx="1920240" cy="457200"/>
          </a:xfrm>
          <a:prstGeom prst="rect">
            <a:avLst/>
          </a:prstGeom>
          <a:noFill/>
        </p:spPr>
        <p:txBody>
          <a:bodyPr wrap="square" anchor="ctr">
            <a:spAutoFit/>
          </a:bodyPr>
          <a:lstStyle/>
          <a:p>
            <a:pPr algn="ctr" marL="0" indent="0">
              <a:buNone/>
            </a:pPr>
            <a:r>
              <a:rPr sz="1200" b="0" i="0">
                <a:solidFill>
                  <a:srgbClr val="CFE8F2"/>
                </a:solidFill>
                <a:latin typeface="Arial"/>
              </a:rPr>
              <a:t>Gradual Release of Responsibility</a:t>
            </a:r>
          </a:p>
        </p:txBody>
      </p:sp>
      <p:cxnSp>
        <p:nvCxnSpPr>
          <p:cNvPr id="7" name="Connector 6"/>
          <p:cNvCxnSpPr/>
          <p:nvPr/>
        </p:nvCxnSpPr>
        <p:spPr>
          <a:xfrm>
            <a:off x="320040" y="2194560"/>
            <a:ext cx="1737360" cy="0"/>
          </a:xfrm>
          <a:prstGeom prst="line">
            <a:avLst/>
          </a:prstGeom>
          <a:ln w="9144">
            <a:solidFill>
              <a:srgbClr val="CFE8F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8600" y="2331720"/>
            <a:ext cx="1920240" cy="365760"/>
          </a:xfrm>
          <a:prstGeom prst="rect">
            <a:avLst/>
          </a:prstGeom>
          <a:noFill/>
        </p:spPr>
        <p:txBody>
          <a:bodyPr wrap="square" anchor="ctr">
            <a:spAutoFit/>
          </a:bodyPr>
          <a:lstStyle/>
          <a:p>
            <a:pPr algn="ctr" marL="0" indent="0">
              <a:buNone/>
            </a:pPr>
            <a:r>
              <a:rPr sz="1100" b="1" i="0">
                <a:solidFill>
                  <a:srgbClr val="CFE8F2"/>
                </a:solidFill>
                <a:latin typeface="Arial"/>
              </a:rPr>
              <a:t>30 - 40 minutes</a:t>
            </a:r>
          </a:p>
        </p:txBody>
      </p:sp>
      <p:sp>
        <p:nvSpPr>
          <p:cNvPr id="9" name="TextBox 8"/>
          <p:cNvSpPr txBox="1"/>
          <p:nvPr/>
        </p:nvSpPr>
        <p:spPr>
          <a:xfrm>
            <a:off x="228600" y="4114800"/>
            <a:ext cx="1920240" cy="320040"/>
          </a:xfrm>
          <a:prstGeom prst="rect">
            <a:avLst/>
          </a:prstGeom>
          <a:noFill/>
        </p:spPr>
        <p:txBody>
          <a:bodyPr wrap="square" anchor="ctr">
            <a:spAutoFit/>
          </a:bodyPr>
          <a:lstStyle/>
          <a:p>
            <a:pPr algn="ctr" marL="0" indent="0">
              <a:buNone/>
            </a:pPr>
            <a:r>
              <a:rPr sz="1100" b="0" i="0">
                <a:solidFill>
                  <a:srgbClr val="CFE8F2"/>
                </a:solidFill>
                <a:latin typeface="Arial"/>
              </a:rPr>
              <a:t>2 / 3</a:t>
            </a:r>
          </a:p>
        </p:txBody>
      </p:sp>
      <p:sp>
        <p:nvSpPr>
          <p:cNvPr id="10" name="Rectangle 9"/>
          <p:cNvSpPr/>
          <p:nvPr/>
        </p:nvSpPr>
        <p:spPr>
          <a:xfrm>
            <a:off x="2651760" y="1097280"/>
            <a:ext cx="6217920" cy="3337560"/>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280160"/>
            <a:ext cx="5760720" cy="2971800"/>
          </a:xfrm>
          <a:prstGeom prst="rect">
            <a:avLst/>
          </a:prstGeom>
          <a:noFill/>
        </p:spPr>
        <p:txBody>
          <a:bodyPr wrap="square" anchor="t">
            <a:spAutoFit/>
          </a:bodyPr>
          <a:lstStyle/>
          <a:p>
            <a:pPr marL="342900" indent="-342900">
              <a:lnSpc>
                <a:spcPts val="2400"/>
              </a:lnSpc>
              <a:spcAft>
                <a:spcPts val="800"/>
              </a:spcAft>
              <a:buSzPct val="100000"/>
              <a:buChar char="●"/>
            </a:pPr>
            <a:r>
              <a:rPr sz="1800" b="1" i="0">
                <a:solidFill>
                  <a:srgbClr val="1A1A1A"/>
                </a:solidFill>
                <a:latin typeface="Arial"/>
              </a:rPr>
              <a:t>We Do: Build the Home Page Together</a:t>
            </a:r>
          </a:p>
          <a:p>
            <a:pPr marL="0" indent="0">
              <a:lnSpc>
                <a:spcPts val="2400"/>
              </a:lnSpc>
              <a:spcAft>
                <a:spcPts val="800"/>
              </a:spcAft>
              <a:buNone/>
            </a:pPr>
            <a:r>
              <a:rPr sz="1800" b="0" i="0">
                <a:solidFill>
                  <a:srgbClr val="1A1A1A"/>
                </a:solidFill>
                <a:latin typeface="Arial"/>
              </a:rPr>
              <a:t>Create index.html and type the Home page text with me.</a:t>
            </a:r>
          </a:p>
          <a:p>
            <a:pPr marL="0" indent="0">
              <a:lnSpc>
                <a:spcPts val="2400"/>
              </a:lnSpc>
              <a:spcAft>
                <a:spcPts val="800"/>
              </a:spcAft>
              <a:buNone/>
            </a:pPr>
            <a:r>
              <a:rPr sz="1800" b="0" i="0">
                <a:solidFill>
                  <a:srgbClr val="1A1A1A"/>
                </a:solidFill>
                <a:latin typeface="Arial"/>
              </a:rPr>
              <a:t>Save, then open it in the browser to check.</a:t>
            </a:r>
          </a:p>
          <a:p>
            <a:pPr marL="0" indent="0">
              <a:lnSpc>
                <a:spcPts val="2400"/>
              </a:lnSpc>
              <a:spcAft>
                <a:spcPts val="800"/>
              </a:spcAft>
              <a:buNone/>
            </a:pPr>
            <a:r>
              <a:rPr sz="1800" b="0" i="0">
                <a:solidFill>
                  <a:srgbClr val="1A1A1A"/>
                </a:solidFill>
                <a:latin typeface="Arial"/>
              </a:rPr>
              <a:t>File names: index.html, about.html, contact.html, vision.html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2377440" cy="3621024"/>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143000"/>
            <a:ext cx="2377440" cy="502920"/>
          </a:xfrm>
          <a:prstGeom prst="rect">
            <a:avLst/>
          </a:prstGeom>
          <a:noFill/>
        </p:spPr>
        <p:txBody>
          <a:bodyPr wrap="square" anchor="ctr">
            <a:spAutoFit/>
          </a:bodyPr>
          <a:lstStyle/>
          <a:p>
            <a:pPr algn="ctr" marL="0" indent="0">
              <a:buNone/>
            </a:pPr>
            <a:r>
              <a:rPr sz="1800" b="1" i="0">
                <a:solidFill>
                  <a:srgbClr val="FFFFFF"/>
                </a:solidFill>
                <a:latin typeface="Arial"/>
              </a:rPr>
              <a:t>LESSON CORE</a:t>
            </a:r>
          </a:p>
        </p:txBody>
      </p:sp>
      <p:sp>
        <p:nvSpPr>
          <p:cNvPr id="6" name="TextBox 5"/>
          <p:cNvSpPr txBox="1"/>
          <p:nvPr/>
        </p:nvSpPr>
        <p:spPr>
          <a:xfrm>
            <a:off x="228600" y="1691640"/>
            <a:ext cx="1920240" cy="457200"/>
          </a:xfrm>
          <a:prstGeom prst="rect">
            <a:avLst/>
          </a:prstGeom>
          <a:noFill/>
        </p:spPr>
        <p:txBody>
          <a:bodyPr wrap="square" anchor="ctr">
            <a:spAutoFit/>
          </a:bodyPr>
          <a:lstStyle/>
          <a:p>
            <a:pPr algn="ctr" marL="0" indent="0">
              <a:buNone/>
            </a:pPr>
            <a:r>
              <a:rPr sz="1200" b="0" i="0">
                <a:solidFill>
                  <a:srgbClr val="CFE8F2"/>
                </a:solidFill>
                <a:latin typeface="Arial"/>
              </a:rPr>
              <a:t>Gradual Release of Responsibility</a:t>
            </a:r>
          </a:p>
        </p:txBody>
      </p:sp>
      <p:cxnSp>
        <p:nvCxnSpPr>
          <p:cNvPr id="7" name="Connector 6"/>
          <p:cNvCxnSpPr/>
          <p:nvPr/>
        </p:nvCxnSpPr>
        <p:spPr>
          <a:xfrm>
            <a:off x="320040" y="2194560"/>
            <a:ext cx="1737360" cy="0"/>
          </a:xfrm>
          <a:prstGeom prst="line">
            <a:avLst/>
          </a:prstGeom>
          <a:ln w="9144">
            <a:solidFill>
              <a:srgbClr val="CFE8F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8600" y="2331720"/>
            <a:ext cx="1920240" cy="365760"/>
          </a:xfrm>
          <a:prstGeom prst="rect">
            <a:avLst/>
          </a:prstGeom>
          <a:noFill/>
        </p:spPr>
        <p:txBody>
          <a:bodyPr wrap="square" anchor="ctr">
            <a:spAutoFit/>
          </a:bodyPr>
          <a:lstStyle/>
          <a:p>
            <a:pPr algn="ctr" marL="0" indent="0">
              <a:buNone/>
            </a:pPr>
            <a:r>
              <a:rPr sz="1100" b="1" i="0">
                <a:solidFill>
                  <a:srgbClr val="CFE8F2"/>
                </a:solidFill>
                <a:latin typeface="Arial"/>
              </a:rPr>
              <a:t>30 - 40 minutes</a:t>
            </a:r>
          </a:p>
        </p:txBody>
      </p:sp>
      <p:sp>
        <p:nvSpPr>
          <p:cNvPr id="9" name="TextBox 8"/>
          <p:cNvSpPr txBox="1"/>
          <p:nvPr/>
        </p:nvSpPr>
        <p:spPr>
          <a:xfrm>
            <a:off x="228600" y="4114800"/>
            <a:ext cx="1920240" cy="320040"/>
          </a:xfrm>
          <a:prstGeom prst="rect">
            <a:avLst/>
          </a:prstGeom>
          <a:noFill/>
        </p:spPr>
        <p:txBody>
          <a:bodyPr wrap="square" anchor="ctr">
            <a:spAutoFit/>
          </a:bodyPr>
          <a:lstStyle/>
          <a:p>
            <a:pPr algn="ctr" marL="0" indent="0">
              <a:buNone/>
            </a:pPr>
            <a:r>
              <a:rPr sz="1100" b="0" i="0">
                <a:solidFill>
                  <a:srgbClr val="CFE8F2"/>
                </a:solidFill>
                <a:latin typeface="Arial"/>
              </a:rPr>
              <a:t>3 / 3</a:t>
            </a:r>
          </a:p>
        </p:txBody>
      </p:sp>
      <p:sp>
        <p:nvSpPr>
          <p:cNvPr id="10" name="Rectangle 9"/>
          <p:cNvSpPr/>
          <p:nvPr/>
        </p:nvSpPr>
        <p:spPr>
          <a:xfrm>
            <a:off x="2651760" y="1097280"/>
            <a:ext cx="6217920" cy="3337560"/>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280160"/>
            <a:ext cx="3163824" cy="2971800"/>
          </a:xfrm>
          <a:prstGeom prst="rect">
            <a:avLst/>
          </a:prstGeom>
          <a:noFill/>
        </p:spPr>
        <p:txBody>
          <a:bodyPr wrap="square" anchor="t">
            <a:spAutoFit/>
          </a:bodyPr>
          <a:lstStyle/>
          <a:p>
            <a:pPr marL="342900" indent="-342900">
              <a:lnSpc>
                <a:spcPts val="2100"/>
              </a:lnSpc>
              <a:spcAft>
                <a:spcPts val="800"/>
              </a:spcAft>
              <a:buSzPct val="100000"/>
              <a:buChar char="●"/>
            </a:pPr>
            <a:r>
              <a:rPr sz="1600" b="1" i="0">
                <a:solidFill>
                  <a:srgbClr val="1A1A1A"/>
                </a:solidFill>
                <a:latin typeface="Arial"/>
              </a:rPr>
              <a:t>You Do: Build the Other Pages</a:t>
            </a:r>
          </a:p>
          <a:p>
            <a:pPr marL="0" indent="0">
              <a:lnSpc>
                <a:spcPts val="2100"/>
              </a:lnSpc>
              <a:spcAft>
                <a:spcPts val="800"/>
              </a:spcAft>
              <a:buNone/>
            </a:pPr>
            <a:r>
              <a:rPr sz="1600" b="0" i="0">
                <a:solidFill>
                  <a:srgbClr val="1A1A1A"/>
                </a:solidFill>
                <a:latin typeface="Arial"/>
              </a:rPr>
              <a:t>Create about.html, contact.html and vision.html.</a:t>
            </a:r>
          </a:p>
          <a:p>
            <a:pPr marL="0" indent="0">
              <a:lnSpc>
                <a:spcPts val="2100"/>
              </a:lnSpc>
              <a:spcAft>
                <a:spcPts val="800"/>
              </a:spcAft>
              <a:buNone/>
            </a:pPr>
            <a:r>
              <a:rPr sz="1600" b="0" i="0">
                <a:solidFill>
                  <a:srgbClr val="1A1A1A"/>
                </a:solidFill>
                <a:latin typeface="Arial"/>
              </a:rPr>
              <a:t>Type the text from your sheet, save, and check each page in the browser.</a:t>
            </a:r>
          </a:p>
        </p:txBody>
      </p:sp>
      <p:sp>
        <p:nvSpPr>
          <p:cNvPr id="12" name="TextBox 11"/>
          <p:cNvSpPr txBox="1"/>
          <p:nvPr/>
        </p:nvSpPr>
        <p:spPr>
          <a:xfrm>
            <a:off x="6236208" y="1280160"/>
            <a:ext cx="2404872" cy="384048"/>
          </a:xfrm>
          <a:prstGeom prst="rect">
            <a:avLst/>
          </a:prstGeom>
          <a:noFill/>
        </p:spPr>
        <p:txBody>
          <a:bodyPr wrap="square" anchor="t">
            <a:spAutoFit/>
          </a:bodyPr>
          <a:lstStyle/>
          <a:p>
            <a:pPr marL="0" indent="0">
              <a:buNone/>
            </a:pPr>
            <a:r>
              <a:rPr sz="1050" b="0" i="1">
                <a:solidFill>
                  <a:srgbClr val="6B7785"/>
                </a:solidFill>
                <a:latin typeface="Arial"/>
              </a:rPr>
              <a:t>Activity: F1 Website, Page Builder</a:t>
            </a:r>
          </a:p>
        </p:txBody>
      </p:sp>
      <p:sp>
        <p:nvSpPr>
          <p:cNvPr id="13" name="Rectangle 12"/>
          <p:cNvSpPr/>
          <p:nvPr/>
        </p:nvSpPr>
        <p:spPr>
          <a:xfrm>
            <a:off x="6236208" y="1700784"/>
            <a:ext cx="2404872" cy="2551176"/>
          </a:xfrm>
          <a:prstGeom prst="rect">
            <a:avLst/>
          </a:prstGeom>
          <a:solidFill>
            <a:srgbClr val="FFFFFF"/>
          </a:solidFill>
          <a:ln w="12801">
            <a:solidFill>
              <a:srgbClr val="D8E4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W5L3 - F1 Website - Page Builder.png"/>
          <p:cNvPicPr>
            <a:picLocks noChangeAspect="1"/>
          </p:cNvPicPr>
          <p:nvPr/>
        </p:nvPicPr>
        <p:blipFill>
          <a:blip r:embed="rId4"/>
          <a:stretch>
            <a:fillRect/>
          </a:stretch>
        </p:blipFill>
        <p:spPr>
          <a:xfrm>
            <a:off x="6327648" y="1869948"/>
            <a:ext cx="2221992" cy="2211933"/>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eader.png"/>
          <p:cNvPicPr>
            <a:picLocks noChangeAspect="1"/>
          </p:cNvPicPr>
          <p:nvPr/>
        </p:nvPicPr>
        <p:blipFill>
          <a:blip r:embed="rId2"/>
          <a:stretch>
            <a:fillRect/>
          </a:stretch>
        </p:blipFill>
        <p:spPr>
          <a:xfrm>
            <a:off x="0" y="0"/>
            <a:ext cx="9144000" cy="960120"/>
          </a:xfrm>
          <a:prstGeom prst="rect">
            <a:avLst/>
          </a:prstGeom>
        </p:spPr>
      </p:pic>
      <p:pic>
        <p:nvPicPr>
          <p:cNvPr id="3" name="Picture 2" descr="footer.png"/>
          <p:cNvPicPr>
            <a:picLocks noChangeAspect="1"/>
          </p:cNvPicPr>
          <p:nvPr/>
        </p:nvPicPr>
        <p:blipFill>
          <a:blip r:embed="rId3"/>
          <a:stretch>
            <a:fillRect/>
          </a:stretch>
        </p:blipFill>
        <p:spPr>
          <a:xfrm>
            <a:off x="0" y="4572000"/>
            <a:ext cx="9144000" cy="566928"/>
          </a:xfrm>
          <a:prstGeom prst="rect">
            <a:avLst/>
          </a:prstGeom>
        </p:spPr>
      </p:pic>
      <p:sp>
        <p:nvSpPr>
          <p:cNvPr id="4" name="Rectangle 3"/>
          <p:cNvSpPr/>
          <p:nvPr/>
        </p:nvSpPr>
        <p:spPr>
          <a:xfrm>
            <a:off x="0" y="960120"/>
            <a:ext cx="2377440" cy="3621024"/>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143000"/>
            <a:ext cx="2377440" cy="502920"/>
          </a:xfrm>
          <a:prstGeom prst="rect">
            <a:avLst/>
          </a:prstGeom>
          <a:noFill/>
        </p:spPr>
        <p:txBody>
          <a:bodyPr wrap="square" anchor="ctr">
            <a:spAutoFit/>
          </a:bodyPr>
          <a:lstStyle/>
          <a:p>
            <a:pPr algn="ctr" marL="0" indent="0">
              <a:buNone/>
            </a:pPr>
            <a:r>
              <a:rPr sz="1800" b="1" i="0">
                <a:solidFill>
                  <a:srgbClr val="FFFFFF"/>
                </a:solidFill>
                <a:latin typeface="Arial"/>
              </a:rPr>
              <a:t>CLOSURE</a:t>
            </a:r>
          </a:p>
        </p:txBody>
      </p:sp>
      <p:sp>
        <p:nvSpPr>
          <p:cNvPr id="6" name="TextBox 5"/>
          <p:cNvSpPr txBox="1"/>
          <p:nvPr/>
        </p:nvSpPr>
        <p:spPr>
          <a:xfrm>
            <a:off x="228600" y="1691640"/>
            <a:ext cx="1920240" cy="457200"/>
          </a:xfrm>
          <a:prstGeom prst="rect">
            <a:avLst/>
          </a:prstGeom>
          <a:noFill/>
        </p:spPr>
        <p:txBody>
          <a:bodyPr wrap="square" anchor="ctr">
            <a:spAutoFit/>
          </a:bodyPr>
          <a:lstStyle/>
          <a:p>
            <a:pPr algn="ctr" marL="0" indent="0">
              <a:buNone/>
            </a:pPr>
            <a:r>
              <a:rPr sz="1200" b="0" i="0">
                <a:solidFill>
                  <a:srgbClr val="CFE8F2"/>
                </a:solidFill>
                <a:latin typeface="Arial"/>
              </a:rPr>
              <a:t>Transition &amp; Extend</a:t>
            </a:r>
          </a:p>
        </p:txBody>
      </p:sp>
      <p:cxnSp>
        <p:nvCxnSpPr>
          <p:cNvPr id="7" name="Connector 6"/>
          <p:cNvCxnSpPr/>
          <p:nvPr/>
        </p:nvCxnSpPr>
        <p:spPr>
          <a:xfrm>
            <a:off x="320040" y="2194560"/>
            <a:ext cx="1737360" cy="0"/>
          </a:xfrm>
          <a:prstGeom prst="line">
            <a:avLst/>
          </a:prstGeom>
          <a:ln w="9144">
            <a:solidFill>
              <a:srgbClr val="CFE8F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28600" y="2331720"/>
            <a:ext cx="1920240" cy="365760"/>
          </a:xfrm>
          <a:prstGeom prst="rect">
            <a:avLst/>
          </a:prstGeom>
          <a:noFill/>
        </p:spPr>
        <p:txBody>
          <a:bodyPr wrap="square" anchor="ctr">
            <a:spAutoFit/>
          </a:bodyPr>
          <a:lstStyle/>
          <a:p>
            <a:pPr algn="ctr" marL="0" indent="0">
              <a:buNone/>
            </a:pPr>
            <a:r>
              <a:rPr sz="1100" b="1" i="0">
                <a:solidFill>
                  <a:srgbClr val="CFE8F2"/>
                </a:solidFill>
                <a:latin typeface="Arial"/>
              </a:rPr>
              <a:t>5 - 10 minutes</a:t>
            </a:r>
          </a:p>
        </p:txBody>
      </p:sp>
      <p:sp>
        <p:nvSpPr>
          <p:cNvPr id="9" name="Rectangle 8"/>
          <p:cNvSpPr/>
          <p:nvPr/>
        </p:nvSpPr>
        <p:spPr>
          <a:xfrm>
            <a:off x="2651760" y="1097280"/>
            <a:ext cx="6217920" cy="3337560"/>
          </a:xfrm>
          <a:prstGeom prst="rect">
            <a:avLst/>
          </a:prstGeom>
          <a:solidFill>
            <a:srgbClr val="EE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1280160"/>
            <a:ext cx="5760720" cy="2971800"/>
          </a:xfrm>
          <a:prstGeom prst="rect">
            <a:avLst/>
          </a:prstGeom>
          <a:noFill/>
        </p:spPr>
        <p:txBody>
          <a:bodyPr wrap="square" anchor="t">
            <a:spAutoFit/>
          </a:bodyPr>
          <a:lstStyle/>
          <a:p>
            <a:pPr marL="342900" indent="-342900">
              <a:lnSpc>
                <a:spcPts val="2400"/>
              </a:lnSpc>
              <a:spcAft>
                <a:spcPts val="800"/>
              </a:spcAft>
              <a:buSzPct val="100000"/>
              <a:buChar char="●"/>
            </a:pPr>
            <a:r>
              <a:rPr sz="1800" b="1" i="0">
                <a:solidFill>
                  <a:srgbClr val="1A1A1A"/>
                </a:solidFill>
                <a:latin typeface="Arial"/>
              </a:rPr>
              <a:t>Quick Check</a:t>
            </a:r>
          </a:p>
          <a:p>
            <a:pPr marL="0" indent="0">
              <a:lnSpc>
                <a:spcPts val="2400"/>
              </a:lnSpc>
              <a:spcAft>
                <a:spcPts val="800"/>
              </a:spcAft>
              <a:buNone/>
            </a:pPr>
            <a:r>
              <a:rPr sz="1800" b="0" i="0">
                <a:solidFill>
                  <a:srgbClr val="1A1A1A"/>
                </a:solidFill>
                <a:latin typeface="Arial"/>
              </a:rPr>
              <a:t>Show your teacher all 4 pages open in the browser.</a:t>
            </a:r>
          </a:p>
          <a:p>
            <a:pPr marL="0" indent="0">
              <a:lnSpc>
                <a:spcPts val="2400"/>
              </a:lnSpc>
              <a:spcAft>
                <a:spcPts val="800"/>
              </a:spcAft>
              <a:buNone/>
            </a:pPr>
            <a:r>
              <a:rPr sz="1800" b="0" i="0">
                <a:solidFill>
                  <a:srgbClr val="1A1A1A"/>
                </a:solidFill>
                <a:latin typeface="Arial"/>
              </a:rPr>
              <a:t>Next lesson: we connect them with hyperlinks.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