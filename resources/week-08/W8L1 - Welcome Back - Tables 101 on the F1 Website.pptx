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FFFFFF"/>
                </a:solidFill>
                <a:latin typeface="Arial"/>
              </a:rPr>
              <a:t>DESIGN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2100" b="0" i="0">
                <a:solidFill>
                  <a:srgbClr val="A8D4E8"/>
                </a:solidFill>
                <a:latin typeface="Arial"/>
              </a:rPr>
              <a:t>Lesson 1: Welcome Back: Tables 101 on the F1 Website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2606040"/>
            <a:ext cx="8321039" cy="0"/>
          </a:xfrm>
          <a:prstGeom prst="line">
            <a:avLst/>
          </a:prstGeom>
          <a:ln w="12801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8DC8E0"/>
                </a:solidFill>
                <a:latin typeface="Arial"/>
              </a:rPr>
              <a:t>Ms. Abboud   •   Grade 9 - Design 1   •   Term 1, Week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WALT - We Are Learning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Explain how tables organize data in rows and columns.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Add an F1 Quick Facts table to About 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WILF - What I'm Looking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table renders with visible rows and columns.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header row uses &lt;th&gt;, data rows use &lt;td&gt;.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Academic Vocabulary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3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The &lt;table&gt; tag, used to organize data into rows and columns, not for page layout.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55464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Table 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The &lt;tr&gt; tag: one horizontal row of a table.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23744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523744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" y="2578608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Table Data / Cell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2852927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The &lt;td&gt; tag: one individual cell of data inside a table row.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2523744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09160" y="2523744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55464" y="2578608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Table Header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2852927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The &lt;th&gt; tag: a cell for column or row titles, bold and centered by default.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Frayer Model: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&lt;table&gt; tag, used to organize data into rows and columns, not for page layout.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&lt;table&gt; tag; organizes data in rows/columns; not for layout.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F1 Quick Facts table: Fact | Detail.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NON-EXAMPLES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Using a table just to position text on a page.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National Identity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UAE Statistical Information: the UAE publishes official data in clear tables so people can compare facts quickly. This week your F1 website presents real data, including facts about the Abu Dhabi Grand Prix.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Hook • Engage &amp; 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Welcome Back!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Round-robin: name one tag on your F1 website and what it does.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No repeats allowed.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1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1139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sz="1200" b="1" i="0">
                <a:solidFill>
                  <a:srgbClr val="1A1A1A"/>
                </a:solidFill>
                <a:latin typeface="Arial"/>
              </a:rPr>
              <a:t>I Do: How a Table Is Built</a:t>
            </a:r>
          </a:p>
          <a:p>
            <a:pPr marL="0" indent="0">
              <a:lnSpc>
                <a:spcPts val="1700"/>
              </a:lnSpc>
              <a:spcAft>
                <a:spcPts val="600"/>
              </a:spcAft>
              <a:buNone/>
            </a:pPr>
            <a:r>
              <a:rPr sz="1200" b="0" i="0">
                <a:solidFill>
                  <a:srgbClr val="1A1A1A"/>
                </a:solidFill>
                <a:latin typeface="Arial"/>
              </a:rPr>
              <a:t>&lt;table&gt; wraps everything. &lt;tr&gt; is a row. &lt;th&gt; is a header cell; &lt;td&gt; is a data cell.</a:t>
            </a:r>
          </a:p>
          <a:p>
            <a:pPr marL="0" indent="0">
              <a:lnSpc>
                <a:spcPts val="1700"/>
              </a:lnSpc>
              <a:spcAft>
                <a:spcPts val="600"/>
              </a:spcAft>
              <a:buNone/>
            </a:pPr>
            <a:r>
              <a:rPr sz="1200" b="0" i="0">
                <a:solidFill>
                  <a:srgbClr val="1A1A1A"/>
                </a:solidFill>
                <a:latin typeface="Arial"/>
              </a:rPr>
              <a:t>Tables are for data in rows and columns, not for positioning things.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465832"/>
            <a:ext cx="5760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6B7785"/>
                </a:solidFill>
                <a:latin typeface="Arial"/>
              </a:rPr>
              <a:t>Example: the first two rows of F1 Quick Facts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2758440"/>
            <a:ext cx="5760720" cy="16764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831592"/>
            <a:ext cx="5541264" cy="1566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CFE8F2"/>
                </a:solidFill>
                <a:latin typeface="Courier New"/>
              </a:rPr>
              <a:t>&lt;table&gt;</a:t>
            </a:r>
          </a:p>
          <a:p>
            <a:pPr marL="0" indent="0">
              <a:buNone/>
            </a:pPr>
            <a:r>
              <a:rPr sz="950" b="0" i="0">
                <a:solidFill>
                  <a:srgbClr val="CFE8F2"/>
                </a:solidFill>
                <a:latin typeface="Courier New"/>
              </a:rPr>
              <a:t>  &lt;tr&gt;</a:t>
            </a:r>
          </a:p>
          <a:p>
            <a:pPr marL="0" indent="0">
              <a:buNone/>
            </a:pPr>
            <a:r>
              <a:rPr sz="950" b="0" i="0">
                <a:solidFill>
                  <a:srgbClr val="CFE8F2"/>
                </a:solidFill>
                <a:latin typeface="Courier New"/>
              </a:rPr>
              <a:t>    &lt;th&gt;Fact&lt;/th&gt;</a:t>
            </a:r>
          </a:p>
          <a:p>
            <a:pPr marL="0" indent="0">
              <a:buNone/>
            </a:pPr>
            <a:r>
              <a:rPr sz="950" b="0" i="0">
                <a:solidFill>
                  <a:srgbClr val="CFE8F2"/>
                </a:solidFill>
                <a:latin typeface="Courier New"/>
              </a:rPr>
              <a:t>    &lt;th&gt;Detail&lt;/th&gt;</a:t>
            </a:r>
          </a:p>
          <a:p>
            <a:pPr marL="0" indent="0">
              <a:buNone/>
            </a:pPr>
            <a:r>
              <a:rPr sz="950" b="0" i="0">
                <a:solidFill>
                  <a:srgbClr val="CFE8F2"/>
                </a:solidFill>
                <a:latin typeface="Courier New"/>
              </a:rPr>
              <a:t>  &lt;/tr&gt;</a:t>
            </a:r>
          </a:p>
          <a:p>
            <a:pPr marL="0" indent="0">
              <a:buNone/>
            </a:pPr>
            <a:r>
              <a:rPr sz="950" b="0" i="0">
                <a:solidFill>
                  <a:srgbClr val="CFE8F2"/>
                </a:solidFill>
                <a:latin typeface="Courier New"/>
              </a:rPr>
              <a:t>  &lt;tr&gt;</a:t>
            </a:r>
          </a:p>
          <a:p>
            <a:pPr marL="0" indent="0">
              <a:buNone/>
            </a:pPr>
            <a:r>
              <a:rPr sz="950" b="0" i="0">
                <a:solidFill>
                  <a:srgbClr val="CFE8F2"/>
                </a:solidFill>
                <a:latin typeface="Courier New"/>
              </a:rPr>
              <a:t>    &lt;td&gt;Drivers per team&lt;/td&gt;</a:t>
            </a:r>
          </a:p>
          <a:p>
            <a:pPr marL="0" indent="0">
              <a:buNone/>
            </a:pPr>
            <a:r>
              <a:rPr sz="950" b="0" i="0">
                <a:solidFill>
                  <a:srgbClr val="CFE8F2"/>
                </a:solidFill>
                <a:latin typeface="Courier New"/>
              </a:rPr>
              <a:t>    &lt;td&gt;2&lt;/td&gt;</a:t>
            </a:r>
          </a:p>
          <a:p>
            <a:pPr marL="0" indent="0">
              <a:buNone/>
            </a:pPr>
            <a:r>
              <a:rPr sz="950" b="0" i="0">
                <a:solidFill>
                  <a:srgbClr val="CFE8F2"/>
                </a:solidFill>
                <a:latin typeface="Courier New"/>
              </a:rPr>
              <a:t>  &lt;/tr&gt;</a:t>
            </a:r>
          </a:p>
          <a:p>
            <a:pPr marL="0" indent="0">
              <a:buNone/>
            </a:pPr>
            <a:r>
              <a:rPr sz="950" b="0" i="0">
                <a:solidFill>
                  <a:srgbClr val="CFE8F2"/>
                </a:solidFill>
                <a:latin typeface="Courier New"/>
              </a:rPr>
              <a:t>&lt;/table&gt;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2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We Do: Frayer Model and Header Row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Complete the Frayer Model for Table together.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Build the header row together: Fact and Detail in &lt;th&gt; cells.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3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●"/>
            </a:pPr>
            <a:r>
              <a:rPr sz="1600" b="1" i="0">
                <a:solidFill>
                  <a:srgbClr val="1A1A1A"/>
                </a:solidFill>
                <a:latin typeface="Arial"/>
              </a:rPr>
              <a:t>You Do: F1 Quick Facts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Add the F1 Quick Facts table to About Us, under the facts list.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You write the code from the Starter Sheet.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1">
                <a:solidFill>
                  <a:srgbClr val="6B7785"/>
                </a:solidFill>
                <a:latin typeface="Arial"/>
              </a:rPr>
              <a:t>Activity: F1 Tables, Starter Sheet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801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8L1 - F1 Tables - Starter She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869948"/>
            <a:ext cx="2221992" cy="22119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Transition &amp; Extend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Exit Ticket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What's the difference between &lt;th&gt; and &lt;td&gt;?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