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4187952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82880" cy="418795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8503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3200" b="1" i="0">
                <a:solidFill>
                  <a:srgbClr val="FFFFFF"/>
                </a:solidFill>
                <a:latin typeface="Arial"/>
              </a:rPr>
              <a:t>DESIGN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65960"/>
            <a:ext cx="8503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2100" b="0" i="0">
                <a:solidFill>
                  <a:srgbClr val="A8D4E8"/>
                </a:solidFill>
                <a:latin typeface="Arial"/>
              </a:rPr>
              <a:t>Lesson 2: Guided Practice: The Famous Grand Prix Table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2606040"/>
            <a:ext cx="8321039" cy="0"/>
          </a:xfrm>
          <a:prstGeom prst="line">
            <a:avLst/>
          </a:prstGeom>
          <a:ln w="12801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2743200"/>
            <a:ext cx="8503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8DC8E0"/>
                </a:solidFill>
                <a:latin typeface="Arial"/>
              </a:rPr>
              <a:t>Ms. Abboud   •   Grade 9 - Design 1   •   Term 1, Week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Learning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WALT - We Are Learning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Build a correctly structured multi-column table, with support.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WILF - What I'm Looking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Every row has the same number of cells.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table displays cleanly with no missing or misaligned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Frayer Model: Table Row (Review)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&lt;tr&gt; tag: one horizontal row of a table.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26864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CHARACTERISTICS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&lt;tr&gt; tag; one horizontal line of a table; holds cells.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EXAMPLES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A row for one race: Abu Dhabi | UAE | Yas Marina Circuit.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26864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NON-EXAMPLES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&lt;table&gt; itself; a single &lt;td&gt;.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0" y="2779776"/>
            <a:ext cx="1280160" cy="402336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0" y="2779776"/>
            <a:ext cx="1280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TABLE ROW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National Identity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53896"/>
            <a:ext cx="9144000" cy="59436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513332"/>
            <a:ext cx="9144000" cy="594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72768"/>
            <a:ext cx="9144000" cy="5943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32204"/>
            <a:ext cx="9144000" cy="59436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773936"/>
            <a:ext cx="8595360" cy="270662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773936"/>
            <a:ext cx="64008" cy="2706624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8321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UAE Statistical Information: the UAE publishes official data in clear tables so people can compare facts quickly. This week your F1 website presents real data, including facts about the Abu Dhabi Grand Prix.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Hook • Engage &amp; Ask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Fix It: Spot the Error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A table is missing a closing &lt;/tr&gt;. Can you find where?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What happens to the table if we leave it?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1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1139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●"/>
            </a:pPr>
            <a:r>
              <a:rPr sz="1400" b="1" i="0">
                <a:solidFill>
                  <a:srgbClr val="1A1A1A"/>
                </a:solidFill>
                <a:latin typeface="Arial"/>
              </a:rPr>
              <a:t>I Do: Plan Before You Code</a:t>
            </a:r>
          </a:p>
          <a:p>
            <a:pPr marL="0" indent="0">
              <a:lnSpc>
                <a:spcPts val="19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rial"/>
              </a:rPr>
              <a:t>3 columns: Grand Prix, Country, Circuit.</a:t>
            </a:r>
          </a:p>
          <a:p>
            <a:pPr marL="0" indent="0">
              <a:lnSpc>
                <a:spcPts val="19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rial"/>
              </a:rPr>
              <a:t>Every row needs exactly 3 cells: count them!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465832"/>
            <a:ext cx="57607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100" b="0" i="1">
                <a:solidFill>
                  <a:srgbClr val="6B7785"/>
                </a:solidFill>
                <a:latin typeface="Arial"/>
              </a:rPr>
              <a:t>Example: header row and the Abu Dhabi row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360" y="2758440"/>
            <a:ext cx="5760720" cy="167640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831592"/>
            <a:ext cx="5541264" cy="1566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950" b="0" i="0">
                <a:solidFill>
                  <a:srgbClr val="CFE8F2"/>
                </a:solidFill>
                <a:latin typeface="Courier New"/>
              </a:rPr>
              <a:t>&lt;tr&gt;</a:t>
            </a:r>
          </a:p>
          <a:p>
            <a:pPr marL="0" indent="0">
              <a:buNone/>
            </a:pPr>
            <a:r>
              <a:rPr sz="950" b="0" i="0">
                <a:solidFill>
                  <a:srgbClr val="CFE8F2"/>
                </a:solidFill>
                <a:latin typeface="Courier New"/>
              </a:rPr>
              <a:t>  &lt;th&gt;Grand Prix&lt;/th&gt;</a:t>
            </a:r>
          </a:p>
          <a:p>
            <a:pPr marL="0" indent="0">
              <a:buNone/>
            </a:pPr>
            <a:r>
              <a:rPr sz="950" b="0" i="0">
                <a:solidFill>
                  <a:srgbClr val="CFE8F2"/>
                </a:solidFill>
                <a:latin typeface="Courier New"/>
              </a:rPr>
              <a:t>  &lt;th&gt;Country&lt;/th&gt;</a:t>
            </a:r>
          </a:p>
          <a:p>
            <a:pPr marL="0" indent="0">
              <a:buNone/>
            </a:pPr>
            <a:r>
              <a:rPr sz="950" b="0" i="0">
                <a:solidFill>
                  <a:srgbClr val="CFE8F2"/>
                </a:solidFill>
                <a:latin typeface="Courier New"/>
              </a:rPr>
              <a:t>  &lt;th&gt;Circuit&lt;/th&gt;</a:t>
            </a:r>
          </a:p>
          <a:p>
            <a:pPr marL="0" indent="0">
              <a:buNone/>
            </a:pPr>
            <a:r>
              <a:rPr sz="950" b="0" i="0">
                <a:solidFill>
                  <a:srgbClr val="CFE8F2"/>
                </a:solidFill>
                <a:latin typeface="Courier New"/>
              </a:rPr>
              <a:t>&lt;/tr&gt;</a:t>
            </a:r>
          </a:p>
          <a:p>
            <a:pPr marL="0" indent="0">
              <a:buNone/>
            </a:pPr>
            <a:r>
              <a:rPr sz="950" b="0" i="0">
                <a:solidFill>
                  <a:srgbClr val="CFE8F2"/>
                </a:solidFill>
                <a:latin typeface="Courier New"/>
              </a:rPr>
              <a:t>&lt;tr&gt;</a:t>
            </a:r>
          </a:p>
          <a:p>
            <a:pPr marL="0" indent="0">
              <a:buNone/>
            </a:pPr>
            <a:r>
              <a:rPr sz="950" b="0" i="0">
                <a:solidFill>
                  <a:srgbClr val="CFE8F2"/>
                </a:solidFill>
                <a:latin typeface="Courier New"/>
              </a:rPr>
              <a:t>  &lt;td&gt;Abu Dhabi&lt;/td&gt;</a:t>
            </a:r>
          </a:p>
          <a:p>
            <a:pPr marL="0" indent="0">
              <a:buNone/>
            </a:pPr>
            <a:r>
              <a:rPr sz="950" b="0" i="0">
                <a:solidFill>
                  <a:srgbClr val="CFE8F2"/>
                </a:solidFill>
                <a:latin typeface="Courier New"/>
              </a:rPr>
              <a:t>  &lt;td&gt;UAE&lt;/td&gt;</a:t>
            </a:r>
          </a:p>
          <a:p>
            <a:pPr marL="0" indent="0">
              <a:buNone/>
            </a:pPr>
            <a:r>
              <a:rPr sz="950" b="0" i="0">
                <a:solidFill>
                  <a:srgbClr val="CFE8F2"/>
                </a:solidFill>
                <a:latin typeface="Courier New"/>
              </a:rPr>
              <a:t>  &lt;td&gt;Yas Marina Circuit&lt;/td&gt;</a:t>
            </a:r>
          </a:p>
          <a:p>
            <a:pPr marL="0" indent="0">
              <a:buNone/>
            </a:pPr>
            <a:r>
              <a:rPr sz="950" b="0" i="0">
                <a:solidFill>
                  <a:srgbClr val="CFE8F2"/>
                </a:solidFill>
                <a:latin typeface="Courier New"/>
              </a:rPr>
              <a:t>&lt;/tr&gt;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2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We Do: Checkpoint by Checkpoint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Checkpoint 1: header row with 3 &lt;th&gt; cells.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Checkpoint 2: all 5 data rows, 3 &lt;td&gt; cells in each.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Cell in the wrong column? Count the cells in each row.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3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●"/>
            </a:pPr>
            <a:r>
              <a:rPr sz="1600" b="1" i="0">
                <a:solidFill>
                  <a:srgbClr val="1A1A1A"/>
                </a:solidFill>
                <a:latin typeface="Arial"/>
              </a:rPr>
              <a:t>You Do: Famous Grand Prix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Finish the table on your Home page, under the Abu Dhabi paragraph.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Then do the partner check.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1280160"/>
            <a:ext cx="24048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050" b="0" i="1">
                <a:solidFill>
                  <a:srgbClr val="6B7785"/>
                </a:solidFill>
                <a:latin typeface="Arial"/>
              </a:rPr>
              <a:t>Activity: F1 Tables, Grand Prix Table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1700784"/>
            <a:ext cx="2404872" cy="2551176"/>
          </a:xfrm>
          <a:prstGeom prst="rect">
            <a:avLst/>
          </a:prstGeom>
          <a:solidFill>
            <a:srgbClr val="FFFFFF"/>
          </a:solidFill>
          <a:ln w="12801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W8L2 - F1 Tables - Grand Prix 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869948"/>
            <a:ext cx="2221992" cy="22119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CLOSURE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Transition &amp; Extend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Quick Check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Submit a screenshot of your Home page table for a quick teacher check.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