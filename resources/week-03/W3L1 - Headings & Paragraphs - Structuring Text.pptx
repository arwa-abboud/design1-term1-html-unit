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4187952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Shape 1"/>
          <p:cNvSpPr/>
          <p:nvPr/>
        </p:nvSpPr>
        <p:spPr>
          <a:xfrm>
            <a:off x="0" y="960120"/>
            <a:ext cx="182880" cy="4187952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6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1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411480" y="196596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8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Headings &amp; Paragraphs: Structuring Text</a:t>
            </a:r>
            <a:endParaRPr 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Abboud   •   Grade 9 - Design 1   •   Term 1, Week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4952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 - We Are Learning To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heading tags (h1-h6) to structure a webpage in a clear hierarchy.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paragraph tags (&lt;p&gt;) to group related sentences together.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4952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WILF - What I'm Looking For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h1 for the main heading and h2 for section headings, in order.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explain the difference between &lt;h1&gt; and the &lt;title&gt; tag.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Vocabulary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91440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9144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4"/>
          <p:cNvSpPr/>
          <p:nvPr/>
        </p:nvSpPr>
        <p:spPr>
          <a:xfrm>
            <a:off x="420624" y="15727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0624" y="1865376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(h1-h6) that labels a page or section - h1 biggest, h6 smallest. Not the same as &lt;title&gt; (browser tab text).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709160" y="1499616"/>
            <a:ext cx="4160520" cy="91440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4709160" y="1499616"/>
            <a:ext cx="64008" cy="9144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2" name="Text 8"/>
          <p:cNvSpPr/>
          <p:nvPr/>
        </p:nvSpPr>
        <p:spPr>
          <a:xfrm>
            <a:off x="4855464" y="15727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Paragraph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855464" y="1865376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&lt;p&gt; tag - groups a block of related sentences together as one unit of text.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2551176"/>
            <a:ext cx="4160520" cy="91440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5" name="Shape 11"/>
          <p:cNvSpPr/>
          <p:nvPr/>
        </p:nvSpPr>
        <p:spPr>
          <a:xfrm>
            <a:off x="274320" y="2551176"/>
            <a:ext cx="64008" cy="9144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6" name="Text 12"/>
          <p:cNvSpPr/>
          <p:nvPr/>
        </p:nvSpPr>
        <p:spPr>
          <a:xfrm>
            <a:off x="420624" y="2624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20624" y="2916936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ordered structure from most to least important - how heading levels (h1 &gt; h2 &gt; h3) organize a page.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Frayer Model: Hierarchy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7" name="Shape 3"/>
          <p:cNvSpPr/>
          <p:nvPr/>
        </p:nvSpPr>
        <p:spPr>
          <a:xfrm>
            <a:off x="274320" y="1453896"/>
            <a:ext cx="4242816" cy="310896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8" name="Text 4"/>
          <p:cNvSpPr/>
          <p:nvPr/>
        </p:nvSpPr>
        <p:spPr>
          <a:xfrm>
            <a:off x="274320" y="1453896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20624" y="1837944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ordered structure from most to least important, used to describe how heading levels organize a page.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626864" y="1453896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4626864" y="1453896"/>
            <a:ext cx="4242816" cy="310896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12" name="Text 8"/>
          <p:cNvSpPr/>
          <p:nvPr/>
        </p:nvSpPr>
        <p:spPr>
          <a:xfrm>
            <a:off x="4626864" y="1453896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73168" y="1837944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is biggest/most important; levels get smaller as they matter less; never skip a level (e.g. h1 straight to h4).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74320" y="3035808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5" name="Shape 11"/>
          <p:cNvSpPr/>
          <p:nvPr/>
        </p:nvSpPr>
        <p:spPr>
          <a:xfrm>
            <a:off x="274320" y="3035808"/>
            <a:ext cx="4242816" cy="31089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6" name="Text 12"/>
          <p:cNvSpPr/>
          <p:nvPr/>
        </p:nvSpPr>
        <p:spPr>
          <a:xfrm>
            <a:off x="274320" y="3035808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20624" y="3419856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&lt;h1&gt;My Website&lt;/h1&gt;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&lt;h2&gt;About Me&lt;/h2&gt;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&lt;h2&gt;My Hobbies&lt;/h2&gt;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626864" y="3035808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9" name="Shape 15"/>
          <p:cNvSpPr/>
          <p:nvPr/>
        </p:nvSpPr>
        <p:spPr>
          <a:xfrm>
            <a:off x="4626864" y="3035808"/>
            <a:ext cx="4242816" cy="3108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0" name="Text 16"/>
          <p:cNvSpPr/>
          <p:nvPr/>
        </p:nvSpPr>
        <p:spPr>
          <a:xfrm>
            <a:off x="4626864" y="3035808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NON-EXAMPLES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773168" y="3419856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&lt;h1&gt;My Website&lt;/h1&gt;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&lt;h4&gt;About Me&lt;/h4&gt;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(skips h2 and h3)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023360" y="2779776"/>
            <a:ext cx="1097280" cy="402336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23" name="Text 19"/>
          <p:cNvSpPr/>
          <p:nvPr/>
        </p:nvSpPr>
        <p:spPr>
          <a:xfrm>
            <a:off x="4023360" y="2779776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Identity Integration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/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/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6624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6624"/>
          </a:xfrm>
          <a:prstGeom prst="rect">
            <a:avLst/>
          </a:prstGeom>
          <a:solidFill>
            <a:srgbClr val="BE0028"/>
          </a:solidFill>
          <a:ln/>
        </p:spPr>
      </p:sp>
      <p:sp>
        <p:nvSpPr>
          <p:cNvPr id="12" name="Text 8"/>
          <p:cNvSpPr/>
          <p:nvPr/>
        </p:nvSpPr>
        <p:spPr>
          <a:xfrm>
            <a:off x="502920" y="1920240"/>
            <a:ext cx="8321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Digital Communication: a clearly structured webpage, with a strong heading hierarchy, communicates a message quickly and professionally - a skill Emirati students carry into any digital career, from government e-services to private-sector web content.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• Engage &amp; Ask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5 - 10 minutes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0" name="Text 6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Page Would You Actually Read?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 wall of unformatted text to the same content broken into headings and paragraphs.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and talk: which one would you read, and why?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Text 7"/>
          <p:cNvSpPr/>
          <p:nvPr/>
        </p:nvSpPr>
        <p:spPr>
          <a:xfrm>
            <a:off x="2880360" y="1280160"/>
            <a:ext cx="5760720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Do: Teacher Demo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 (h1-h6) build a hierarchy; paragraphs (&lt;p&gt;) group related sentences.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&lt;title&gt; sets the browser tab text - &lt;h1&gt; is the big visible heading on the page. Not the same tag.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880360" y="2572512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 page with correct heading hierarchy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880360" y="2865120"/>
            <a:ext cx="5760720" cy="1569720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14" name="Text 10"/>
          <p:cNvSpPr/>
          <p:nvPr/>
        </p:nvSpPr>
        <p:spPr>
          <a:xfrm>
            <a:off x="2990088" y="2956560"/>
            <a:ext cx="5541264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&lt;h1&gt;My Website&lt;/h1&gt;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&lt;p&gt;Welcome to my personal site.&lt;/p&gt;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&lt;h2&gt;About Me&lt;/h2&gt;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&lt;p&gt;A short paragraph about who I am.&lt;/p&gt;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&lt;h2&gt;My Hobbies&lt;/h2&gt;</a:t>
            </a:r>
            <a:endParaRPr lang="en-US" sz="1050" dirty="0"/>
          </a:p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&lt;p&gt;A short paragraph about what I enjoy doing.&lt;/p&gt;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Text 7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Do: 3 Reads of the Example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1 - what is this page about? Read 2 - which headings/paragraphs carry which ideas?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3 - why does this structure make it easier to read than the warm-up's wall of text?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notes: record the hierarchy rules, plus one correct vs. incorrect example.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1" name="Text 7"/>
          <p:cNvSpPr/>
          <p:nvPr/>
        </p:nvSpPr>
        <p:spPr>
          <a:xfrm>
            <a:off x="2880360" y="1280160"/>
            <a:ext cx="3163824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Do: Code the Healthy Food Page</a:t>
            </a:r>
            <a:endParaRPr lang="en-US" sz="1500" dirty="0"/>
          </a:p>
          <a:p>
            <a:pPr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given the finished webpage - write the HTML code that would build it, using the right heading and paragraph tags.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36208" y="1280160"/>
            <a:ext cx="240487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Activity: Code This Page - Healthy Food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36208" y="1700784"/>
            <a:ext cx="2404872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C"/>
            </a:solidFill>
            <a:prstDash val="solid"/>
          </a:ln>
        </p:spPr>
      </p:sp>
      <p:pic>
        <p:nvPicPr>
          <p:cNvPr id="14" name="Image 2" descr="C:\Users\a.abboud\Desktop\html unit\resources\week-03\scratch\assets\W3L1 - Code This Page - Healthy Food_cropp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822" y="1792224"/>
            <a:ext cx="1783643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F9ED5"/>
          </a:solidFill>
          <a:ln/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&amp; Extend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5 - 10 minutes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</p:sp>
      <p:sp>
        <p:nvSpPr>
          <p:cNvPr id="10" name="Text 6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heading level would you use for a page's main heading, and which for a section heading?</a:t>
            </a:r>
            <a:endParaRPr lang="en-US" sz="1800" dirty="0"/>
          </a:p>
          <a:p>
            <a:pPr indent="0" marL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tag would you use to set the browser tab text instead?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2026-09-11T06:23:41Z</dcterms:created>
  <dcterms:modified xsi:type="dcterms:W3CDTF">2026-09-11T06:23:41Z</dcterms:modified>
</cp:coreProperties>
</file>