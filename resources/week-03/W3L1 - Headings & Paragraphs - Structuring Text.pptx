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10" autoAdjust="0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81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0112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8F577-C0A7-F3E6-B742-9433B495C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80898B-C34B-56EC-B71A-6B3638C9B3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C7ECC-B4FF-CE79-1000-510D97F63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053A9-02FF-21EF-37D0-30B03A56EF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8111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4187952"/>
          </a:xfrm>
          <a:prstGeom prst="rect">
            <a:avLst/>
          </a:prstGeom>
          <a:solidFill>
            <a:srgbClr val="0E28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/>
          <p:cNvSpPr/>
          <p:nvPr/>
        </p:nvSpPr>
        <p:spPr>
          <a:xfrm>
            <a:off x="0" y="960120"/>
            <a:ext cx="182880" cy="4187952"/>
          </a:xfrm>
          <a:prstGeom prst="rect">
            <a:avLst/>
          </a:prstGeom>
          <a:solidFill>
            <a:srgbClr val="0F9E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411480" y="118872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1</a:t>
            </a:r>
            <a:endParaRPr lang="en-US" sz="3200" dirty="0"/>
          </a:p>
        </p:txBody>
      </p:sp>
      <p:sp>
        <p:nvSpPr>
          <p:cNvPr id="7" name="Text 3"/>
          <p:cNvSpPr/>
          <p:nvPr/>
        </p:nvSpPr>
        <p:spPr>
          <a:xfrm>
            <a:off x="411480" y="196596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A8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Headings &amp; Paragraphs: Structuring Text</a:t>
            </a:r>
            <a:endParaRPr lang="en-US" sz="2100" dirty="0"/>
          </a:p>
        </p:txBody>
      </p:sp>
      <p:sp>
        <p:nvSpPr>
          <p:cNvPr id="8" name="Shape 4"/>
          <p:cNvSpPr/>
          <p:nvPr/>
        </p:nvSpPr>
        <p:spPr>
          <a:xfrm>
            <a:off x="411480" y="2606040"/>
            <a:ext cx="8321040" cy="0"/>
          </a:xfrm>
          <a:prstGeom prst="line">
            <a:avLst/>
          </a:prstGeom>
          <a:noFill/>
          <a:ln w="12700">
            <a:solidFill>
              <a:srgbClr val="0F9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411480" y="274320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D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Abboud   •   Grade 9 - Design 1   •   Term 1, Week 3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Objectives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160520" cy="3044952"/>
          </a:xfrm>
          <a:prstGeom prst="rect">
            <a:avLst/>
          </a:prstGeom>
          <a:solidFill>
            <a:srgbClr val="EE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solidFill>
            <a:srgbClr val="1560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274320" y="1453896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WALT - We Are Learning To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38912" y="1892808"/>
            <a:ext cx="3831336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heading tags (h1-h6) to structure a webpage in a clear hierarchy.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paragraph tags (&lt;p&gt;) to group related sentences together.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709160" y="1453896"/>
            <a:ext cx="4160520" cy="3044952"/>
          </a:xfrm>
          <a:prstGeom prst="rect">
            <a:avLst/>
          </a:prstGeom>
          <a:solidFill>
            <a:srgbClr val="EE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solidFill>
            <a:srgbClr val="0F9E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709160" y="1453896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WILF - What I'm Looking For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873752" y="1892808"/>
            <a:ext cx="3831336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use h1 for the main heading and h2 for section headings, in order.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explain the difference between &lt;h1&gt; and the &lt;title&gt; tag.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Vocabulary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274320" y="1499616"/>
            <a:ext cx="4160520" cy="914400"/>
          </a:xfrm>
          <a:prstGeom prst="rect">
            <a:avLst/>
          </a:prstGeom>
          <a:solidFill>
            <a:srgbClr val="EE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274320" y="1499616"/>
            <a:ext cx="64008" cy="914400"/>
          </a:xfrm>
          <a:prstGeom prst="rect">
            <a:avLst/>
          </a:prstGeom>
          <a:solidFill>
            <a:srgbClr val="1560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420624" y="157276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20624" y="1865376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(h1-h6) that labels a page or section - h1 biggest, h6 smallest. Not the same as &lt;title&gt; (browser tab text).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709160" y="1499616"/>
            <a:ext cx="4160520" cy="914400"/>
          </a:xfrm>
          <a:prstGeom prst="rect">
            <a:avLst/>
          </a:prstGeom>
          <a:solidFill>
            <a:srgbClr val="EE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709160" y="1499616"/>
            <a:ext cx="64008" cy="914400"/>
          </a:xfrm>
          <a:prstGeom prst="rect">
            <a:avLst/>
          </a:prstGeom>
          <a:solidFill>
            <a:srgbClr val="1560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855464" y="157276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Paragraph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855464" y="1865376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&lt;p&gt; tag - groups a block of related sentences together as one unit of text.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274320" y="2551176"/>
            <a:ext cx="4160520" cy="914400"/>
          </a:xfrm>
          <a:prstGeom prst="rect">
            <a:avLst/>
          </a:prstGeom>
          <a:solidFill>
            <a:srgbClr val="EE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274320" y="2551176"/>
            <a:ext cx="64008" cy="914400"/>
          </a:xfrm>
          <a:prstGeom prst="rect">
            <a:avLst/>
          </a:prstGeom>
          <a:solidFill>
            <a:srgbClr val="1560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420624" y="26243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0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Hierarchy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20624" y="2916936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ordered structure from most to least important - how heading levels (h1 &gt; h2 &gt; h3) organize a page.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Frayer Model: Hierarchy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274320" y="1453896"/>
            <a:ext cx="4242816" cy="1472184"/>
          </a:xfrm>
          <a:prstGeom prst="rect">
            <a:avLst/>
          </a:prstGeom>
          <a:solidFill>
            <a:srgbClr val="EE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274320" y="1453896"/>
            <a:ext cx="4242816" cy="310896"/>
          </a:xfrm>
          <a:prstGeom prst="rect">
            <a:avLst/>
          </a:prstGeom>
          <a:solidFill>
            <a:srgbClr val="1560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274320" y="1453896"/>
            <a:ext cx="42428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420624" y="1837944"/>
            <a:ext cx="3950208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ordered structure from most to least important, used to describe how heading levels organize a page.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626864" y="1453896"/>
            <a:ext cx="4242816" cy="1472184"/>
          </a:xfrm>
          <a:prstGeom prst="rect">
            <a:avLst/>
          </a:prstGeom>
          <a:solidFill>
            <a:srgbClr val="EE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626864" y="1453896"/>
            <a:ext cx="4242816" cy="310896"/>
          </a:xfrm>
          <a:prstGeom prst="rect">
            <a:avLst/>
          </a:prstGeom>
          <a:solidFill>
            <a:srgbClr val="0F9E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626864" y="1453896"/>
            <a:ext cx="42428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CHARACTERISTICS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773168" y="1837944"/>
            <a:ext cx="3950208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is biggest/most important; levels get smaller as they matter less; never skip a level (e.g. h1 straight to h4).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274320" y="3035808"/>
            <a:ext cx="4242816" cy="1472184"/>
          </a:xfrm>
          <a:prstGeom prst="rect">
            <a:avLst/>
          </a:prstGeom>
          <a:solidFill>
            <a:srgbClr val="EE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274320" y="3035808"/>
            <a:ext cx="4242816" cy="310896"/>
          </a:xfrm>
          <a:prstGeom prst="rect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274320" y="3035808"/>
            <a:ext cx="42428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20624" y="3419856"/>
            <a:ext cx="3950208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&lt;h1&gt;My Website&lt;/h1&gt;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&lt;h2&gt;About Me&lt;/h2&gt;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&lt;h2&gt;My Hobbies&lt;/h2&gt;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4626864" y="3035808"/>
            <a:ext cx="4242816" cy="1472184"/>
          </a:xfrm>
          <a:prstGeom prst="rect">
            <a:avLst/>
          </a:prstGeom>
          <a:solidFill>
            <a:srgbClr val="EE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626864" y="3035808"/>
            <a:ext cx="4242816" cy="310896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4626864" y="3035808"/>
            <a:ext cx="42428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NON-EXAMPLES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773168" y="3419856"/>
            <a:ext cx="3950208" cy="10149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&lt;h1&gt;My Website&lt;/h1&gt;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&lt;h4&gt;About Me&lt;/h4&gt;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(skips h2 and h3)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4023360" y="2779776"/>
            <a:ext cx="1097280" cy="402336"/>
          </a:xfrm>
          <a:prstGeom prst="rect">
            <a:avLst/>
          </a:prstGeom>
          <a:solidFill>
            <a:srgbClr val="0E28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4023360" y="2779776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HIERARCHY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9144000" cy="384048"/>
          </a:xfrm>
          <a:prstGeom prst="rect">
            <a:avLst/>
          </a:prstGeom>
          <a:solidFill>
            <a:srgbClr val="1560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1"/>
          <p:cNvSpPr/>
          <p:nvPr/>
        </p:nvSpPr>
        <p:spPr>
          <a:xfrm>
            <a:off x="320040" y="96012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Identity Integration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0" y="1453896"/>
            <a:ext cx="9144000" cy="59436"/>
          </a:xfrm>
          <a:prstGeom prst="rect">
            <a:avLst/>
          </a:prstGeom>
          <a:solidFill>
            <a:srgbClr val="BE00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0" y="1513332"/>
            <a:ext cx="9144000" cy="594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0" y="1572768"/>
            <a:ext cx="9144000" cy="59436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0" y="1632204"/>
            <a:ext cx="9144000" cy="59436"/>
          </a:xfrm>
          <a:prstGeom prst="rect">
            <a:avLst/>
          </a:prstGeom>
          <a:solidFill>
            <a:srgbClr val="0084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274320" y="1773936"/>
            <a:ext cx="8595360" cy="2706624"/>
          </a:xfrm>
          <a:prstGeom prst="rect">
            <a:avLst/>
          </a:prstGeom>
          <a:solidFill>
            <a:srgbClr val="EE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274320" y="1773936"/>
            <a:ext cx="64008" cy="2706624"/>
          </a:xfrm>
          <a:prstGeom prst="rect">
            <a:avLst/>
          </a:prstGeom>
          <a:solidFill>
            <a:srgbClr val="BE00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02920" y="1920240"/>
            <a:ext cx="8321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Digital Communication: a clearly structured webpage, with a strong heading hierarchy, communicates a message quickly and professionally - a skill Emirati students carry into any digital career, from government e-services to private-sector web content.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21024"/>
          </a:xfrm>
          <a:prstGeom prst="rect">
            <a:avLst/>
          </a:prstGeom>
          <a:solidFill>
            <a:srgbClr val="1560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228600" y="1691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• Engage &amp; Ask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CFE8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5 - 10 minutes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37560"/>
          </a:xfrm>
          <a:prstGeom prst="rect">
            <a:avLst/>
          </a:prstGeom>
          <a:solidFill>
            <a:srgbClr val="EE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2880360" y="1280160"/>
            <a:ext cx="5760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6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Page Would You Actually Read?</a:t>
            </a:r>
            <a:endParaRPr lang="en-US" sz="1800" dirty="0"/>
          </a:p>
          <a:p>
            <a:pPr marL="0" indent="0">
              <a:lnSpc>
                <a:spcPts val="26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a wall of unformatted text to the same content broken into headings and paragraphs.</a:t>
            </a:r>
            <a:endParaRPr lang="en-US" sz="1800" dirty="0"/>
          </a:p>
          <a:p>
            <a:pPr marL="0" indent="0">
              <a:lnSpc>
                <a:spcPts val="26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and talk: which one would you read, and why?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21024"/>
          </a:xfrm>
          <a:prstGeom prst="rect">
            <a:avLst/>
          </a:prstGeom>
          <a:solidFill>
            <a:srgbClr val="0E28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CORE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228600" y="1691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Gradual Release of Responsibility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CFE8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30 - 40 minutes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28600" y="41148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3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37560"/>
          </a:xfrm>
          <a:prstGeom prst="rect">
            <a:avLst/>
          </a:prstGeom>
          <a:solidFill>
            <a:srgbClr val="EE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2880360" y="1280160"/>
            <a:ext cx="5760720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Do: Teacher Demo</a:t>
            </a:r>
            <a:endParaRPr lang="en-US" sz="1100" dirty="0"/>
          </a:p>
          <a:p>
            <a:pPr marL="0" indent="0">
              <a:lnSpc>
                <a:spcPts val="16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Headings (h1-h6) build a hierarchy; paragraphs (&lt;p&gt;) group related sentences.</a:t>
            </a:r>
            <a:endParaRPr lang="en-US" sz="1100" dirty="0"/>
          </a:p>
          <a:p>
            <a:pPr marL="0" indent="0">
              <a:lnSpc>
                <a:spcPts val="16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&lt;title&gt; sets the browser tab text - &lt;h1&gt; is the big visible heading on the page. Not the same tag.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2880360" y="2572512"/>
            <a:ext cx="5760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a page with correct heading hierarchy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2880360" y="2865120"/>
            <a:ext cx="5760720" cy="1569720"/>
          </a:xfrm>
          <a:prstGeom prst="rect">
            <a:avLst/>
          </a:prstGeom>
          <a:solidFill>
            <a:srgbClr val="0E28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2990088" y="2956560"/>
            <a:ext cx="5541264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&lt;h1&gt;My Website&lt;/h1&gt;</a:t>
            </a:r>
            <a:endParaRPr lang="en-US" sz="1050" dirty="0"/>
          </a:p>
          <a:p>
            <a:pPr marL="0" indent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&lt;p&gt;Welcome to my personal site.&lt;/p&gt;</a:t>
            </a:r>
            <a:endParaRPr lang="en-US" sz="1050" dirty="0"/>
          </a:p>
          <a:p>
            <a:pPr marL="0" indent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&lt;h2&gt;About Me&lt;/h2&gt;</a:t>
            </a:r>
            <a:endParaRPr lang="en-US" sz="1050" dirty="0"/>
          </a:p>
          <a:p>
            <a:pPr marL="0" indent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&lt;p&gt;A short paragraph about who I am.&lt;/p&gt;</a:t>
            </a:r>
            <a:endParaRPr lang="en-US" sz="1050" dirty="0"/>
          </a:p>
          <a:p>
            <a:pPr marL="0" indent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&lt;h2&gt;My Hobbies&lt;/h2&gt;</a:t>
            </a:r>
            <a:endParaRPr lang="en-US" sz="1050" dirty="0"/>
          </a:p>
          <a:p>
            <a:pPr marL="0" indent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&lt;p&gt;A short paragraph about what I enjoy doing.&lt;/p&gt;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21024"/>
          </a:xfrm>
          <a:prstGeom prst="rect">
            <a:avLst/>
          </a:prstGeom>
          <a:solidFill>
            <a:srgbClr val="0E28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CORE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228600" y="1691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Gradual Release of Responsibility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CFE8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30 - 40 minutes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28600" y="41148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37560"/>
          </a:xfrm>
          <a:prstGeom prst="rect">
            <a:avLst/>
          </a:prstGeom>
          <a:solidFill>
            <a:srgbClr val="EE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2880360" y="1280160"/>
            <a:ext cx="5760720" cy="110858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Do: 3 Reads of the Example</a:t>
            </a:r>
            <a:endParaRPr lang="en-US" sz="1300" dirty="0"/>
          </a:p>
          <a:p>
            <a:pPr marL="0" indent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3 Reads to the page on the right: what's it about, which ideas go where, and why is it easier to read than the warm-up's wall of text?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2880360" y="2461895"/>
            <a:ext cx="5760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example page, rendered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2880360" y="2754503"/>
            <a:ext cx="5760720" cy="1680337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3008376" y="2882519"/>
            <a:ext cx="5504688" cy="1424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Website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my personal site.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Me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paragraph about who I am.</a:t>
            </a:r>
            <a:endParaRPr lang="en-US" sz="15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Hobbies</a:t>
            </a:r>
            <a:endParaRPr lang="en-US" sz="1500" dirty="0"/>
          </a:p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paragraph about what I enjoy doing.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D8D53-0D62-EAD6-BEDC-F8A8D206D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>
            <a:extLst>
              <a:ext uri="{FF2B5EF4-FFF2-40B4-BE49-F238E27FC236}">
                <a16:creationId xmlns:a16="http://schemas.microsoft.com/office/drawing/2014/main" id="{5E25D646-8815-84FA-1786-CEE5138F5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>
            <a:extLst>
              <a:ext uri="{FF2B5EF4-FFF2-40B4-BE49-F238E27FC236}">
                <a16:creationId xmlns:a16="http://schemas.microsoft.com/office/drawing/2014/main" id="{46609FE3-802D-CAE9-E9DB-0DD3D37295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>
            <a:extLst>
              <a:ext uri="{FF2B5EF4-FFF2-40B4-BE49-F238E27FC236}">
                <a16:creationId xmlns:a16="http://schemas.microsoft.com/office/drawing/2014/main" id="{1DDFBB92-E643-42E5-8D85-A7A5F76E0B43}"/>
              </a:ext>
            </a:extLst>
          </p:cNvPr>
          <p:cNvSpPr/>
          <p:nvPr/>
        </p:nvSpPr>
        <p:spPr>
          <a:xfrm>
            <a:off x="0" y="960120"/>
            <a:ext cx="2377440" cy="3621024"/>
          </a:xfrm>
          <a:prstGeom prst="rect">
            <a:avLst/>
          </a:prstGeom>
          <a:solidFill>
            <a:srgbClr val="0E28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4296C8A2-7376-CAC3-AB1B-F3E4AC29DD51}"/>
              </a:ext>
            </a:extLst>
          </p:cNvPr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CORE</a:t>
            </a:r>
            <a:endParaRPr lang="en-US" sz="18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0FAB03A2-22F4-5F2D-B872-A4D5E05F3258}"/>
              </a:ext>
            </a:extLst>
          </p:cNvPr>
          <p:cNvSpPr/>
          <p:nvPr/>
        </p:nvSpPr>
        <p:spPr>
          <a:xfrm>
            <a:off x="228600" y="1691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Gradual Release of Responsibility</a:t>
            </a:r>
            <a:endParaRPr lang="en-US" sz="1200" dirty="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1CBD137F-40B7-8698-464E-EC5A88C990B5}"/>
              </a:ext>
            </a:extLst>
          </p:cNvPr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CFE8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86911679-F650-C436-430E-DC3B90CF6471}"/>
              </a:ext>
            </a:extLst>
          </p:cNvPr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30 - 40 minutes</a:t>
            </a:r>
            <a:endParaRPr lang="en-US" sz="11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E45740A-A22F-0EEB-8BC7-8F40E321AAFD}"/>
              </a:ext>
            </a:extLst>
          </p:cNvPr>
          <p:cNvSpPr/>
          <p:nvPr/>
        </p:nvSpPr>
        <p:spPr>
          <a:xfrm>
            <a:off x="228600" y="41148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</a:t>
            </a:r>
            <a:endParaRPr lang="en-US" sz="1100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68CCE57-DF22-84E8-DA89-BAB4DA0A324F}"/>
              </a:ext>
            </a:extLst>
          </p:cNvPr>
          <p:cNvSpPr/>
          <p:nvPr/>
        </p:nvSpPr>
        <p:spPr>
          <a:xfrm>
            <a:off x="2651760" y="1097280"/>
            <a:ext cx="6217920" cy="3337560"/>
          </a:xfrm>
          <a:prstGeom prst="rect">
            <a:avLst/>
          </a:prstGeom>
          <a:solidFill>
            <a:srgbClr val="EE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C25C5444-5464-4BA2-FF91-BC44F2C56FFA}"/>
              </a:ext>
            </a:extLst>
          </p:cNvPr>
          <p:cNvSpPr/>
          <p:nvPr/>
        </p:nvSpPr>
        <p:spPr>
          <a:xfrm>
            <a:off x="2880360" y="1280160"/>
            <a:ext cx="5760720" cy="110858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●"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Do: 3 Reads of the Example</a:t>
            </a:r>
            <a:endParaRPr lang="en-US" sz="1300" dirty="0"/>
          </a:p>
          <a:p>
            <a:pPr marL="0" indent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3 Reads to the page on the right: what's it about, which ideas go where, and why is it easier to read than the warm-up's wall of text?</a:t>
            </a:r>
            <a:endParaRPr lang="en-US" sz="13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0C92775E-A600-F195-49F8-BA57E130AEBC}"/>
              </a:ext>
            </a:extLst>
          </p:cNvPr>
          <p:cNvSpPr/>
          <p:nvPr/>
        </p:nvSpPr>
        <p:spPr>
          <a:xfrm>
            <a:off x="2880360" y="2461895"/>
            <a:ext cx="5760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example page, rendered</a:t>
            </a:r>
            <a:endParaRPr lang="en-US" sz="11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BBAB3F49-E91B-86A6-7DEE-43F7A89B9E0D}"/>
              </a:ext>
            </a:extLst>
          </p:cNvPr>
          <p:cNvSpPr/>
          <p:nvPr/>
        </p:nvSpPr>
        <p:spPr>
          <a:xfrm>
            <a:off x="2880360" y="2754503"/>
            <a:ext cx="5760720" cy="1680337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4DD636D4-DEE0-A671-43D4-11CC83EDAFE3}"/>
              </a:ext>
            </a:extLst>
          </p:cNvPr>
          <p:cNvSpPr/>
          <p:nvPr/>
        </p:nvSpPr>
        <p:spPr>
          <a:xfrm>
            <a:off x="3008376" y="2882519"/>
            <a:ext cx="5504688" cy="1424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Website</a:t>
            </a:r>
            <a:endParaRPr lang="en-US" sz="12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to my personal site.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Me</a:t>
            </a:r>
            <a:endParaRPr lang="en-US" sz="12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paragraph about who I am.</a:t>
            </a:r>
            <a:endParaRPr lang="en-US" sz="12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Hobbies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paragraph about what I enjoy doing.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760785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21024"/>
          </a:xfrm>
          <a:prstGeom prst="rect">
            <a:avLst/>
          </a:prstGeom>
          <a:solidFill>
            <a:srgbClr val="0E28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CORE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228600" y="1691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Gradual Release of Responsibility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CFE8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30 - 40 minutes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28600" y="41148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651760" y="1097280"/>
            <a:ext cx="6217920" cy="3337560"/>
          </a:xfrm>
          <a:prstGeom prst="rect">
            <a:avLst/>
          </a:prstGeom>
          <a:solidFill>
            <a:srgbClr val="EE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2880360" y="1280160"/>
            <a:ext cx="3163824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Do: Code the Healthy Food Page</a:t>
            </a:r>
            <a:endParaRPr lang="en-US" sz="1500" dirty="0"/>
          </a:p>
          <a:p>
            <a:pPr marL="0" indent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given the finished webpage - write the HTML code that would build it, using the right heading and paragraph tags.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36208" y="1280160"/>
            <a:ext cx="240487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Activity: Code This Page - Healthy Food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236208" y="1700784"/>
            <a:ext cx="2404872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2" descr="C:\Users\a.abboud\Desktop\html unit\resources\week-03\scratch\assets\W3L1 - Code This Page - Healthy Food_cropp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6822" y="1792224"/>
            <a:ext cx="1783643" cy="23682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.abboud\Desktop\html unit\resources\week-03\scratch\assets\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60120"/>
          </a:xfrm>
          <a:prstGeom prst="rect">
            <a:avLst/>
          </a:prstGeom>
        </p:spPr>
      </p:pic>
      <p:pic>
        <p:nvPicPr>
          <p:cNvPr id="3" name="Image 1" descr="C:\Users\a.abboud\Desktop\html unit\resources\week-03\scratch\assets\foo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572000"/>
            <a:ext cx="9144000" cy="56692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60120"/>
            <a:ext cx="2377440" cy="3621024"/>
          </a:xfrm>
          <a:prstGeom prst="rect">
            <a:avLst/>
          </a:prstGeom>
          <a:solidFill>
            <a:srgbClr val="0F9E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1"/>
          <p:cNvSpPr/>
          <p:nvPr/>
        </p:nvSpPr>
        <p:spPr>
          <a:xfrm>
            <a:off x="0" y="11430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CLOSURE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228600" y="1691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&amp; Extend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320040" y="2194560"/>
            <a:ext cx="1737360" cy="0"/>
          </a:xfrm>
          <a:prstGeom prst="line">
            <a:avLst/>
          </a:prstGeom>
          <a:noFill/>
          <a:ln w="9525">
            <a:solidFill>
              <a:srgbClr val="CFE8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228600" y="2331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5 - 10 minutes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651760" y="1097280"/>
            <a:ext cx="6217920" cy="3337560"/>
          </a:xfrm>
          <a:prstGeom prst="rect">
            <a:avLst/>
          </a:prstGeom>
          <a:solidFill>
            <a:srgbClr val="EE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2880360" y="1280160"/>
            <a:ext cx="5760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6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1800" dirty="0"/>
          </a:p>
          <a:p>
            <a:pPr marL="0" indent="0">
              <a:lnSpc>
                <a:spcPts val="26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heading level would you use for a page's main heading, and which for a section heading?</a:t>
            </a:r>
            <a:endParaRPr lang="en-US" sz="1800" dirty="0"/>
          </a:p>
          <a:p>
            <a:pPr marL="0" indent="0">
              <a:lnSpc>
                <a:spcPts val="26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tag would you use to set the browser tab text instead?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781</Words>
  <Application>Microsoft Office PowerPoint</Application>
  <PresentationFormat>On-screen Show (16:9)</PresentationFormat>
  <Paragraphs>105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Arwa Abboud</cp:lastModifiedBy>
  <cp:revision>2</cp:revision>
  <dcterms:created xsi:type="dcterms:W3CDTF">2026-09-11T07:05:10Z</dcterms:created>
  <dcterms:modified xsi:type="dcterms:W3CDTF">2026-09-11T07:06:47Z</dcterms:modified>
</cp:coreProperties>
</file>