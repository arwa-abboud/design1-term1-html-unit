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960120"/>
            <a:ext cx="9144000" cy="4183380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960120"/>
            <a:ext cx="182880" cy="4183380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11480" y="1188720"/>
            <a:ext cx="8503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200" kern="0" dirty="0">
                <a:solidFill>
                  <a:srgbClr val="FFFFFF"/>
                </a:solidFill>
              </a:rPr>
              <a:t>DESIGN 1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411480" y="19659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A8D4E8"/>
                </a:solidFill>
              </a:rPr>
              <a:t>Lesson 3: What Is HTML? Exploring the Web Around Us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411480" y="2606040"/>
            <a:ext cx="8321040" cy="0"/>
          </a:xfrm>
          <a:prstGeom prst="line">
            <a:avLst/>
          </a:prstGeom>
          <a:noFill/>
          <a:ln w="12700">
            <a:solidFill>
              <a:srgbClr val="0F9ED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274320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DC8E0"/>
                </a:solidFill>
              </a:rPr>
              <a:t>Ms. Abboud   |   Grade 9 - Design 1   |   Term 1, Week 1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Learning Objectives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274320" y="1453896"/>
            <a:ext cx="4160520" cy="3049524"/>
          </a:xfrm>
          <a:prstGeom prst="rect">
            <a:avLst/>
          </a:prstGeom>
          <a:solidFill>
            <a:srgbClr val="EEF6FB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1453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WALT - We Are Learning To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38912" y="1892808"/>
            <a:ext cx="3831336" cy="2519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To explain the purpose of HTML.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To identify the key components of a webpage.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4709160" y="1453896"/>
            <a:ext cx="4160520" cy="3049524"/>
          </a:xfrm>
          <a:prstGeom prst="rect">
            <a:avLst/>
          </a:prstGeom>
          <a:solidFill>
            <a:srgbClr val="EEF6FB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709160" y="1453896"/>
            <a:ext cx="4160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WILF - What I'm Looking For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873752" y="1892808"/>
            <a:ext cx="3831336" cy="25191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I can define HTML in my own words.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I can identify at least 3 webpage components on a real site.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A1A1A"/>
                </a:solidFill>
              </a:rPr>
              <a:t>I can explain why HTML matters for communicating with an audience.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Academic Vocabulary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274320" y="1499616"/>
            <a:ext cx="4160520" cy="685800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1499616"/>
            <a:ext cx="64008" cy="685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02336" y="156362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</a:rPr>
              <a:t>HTML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02336" y="1828800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The code language used to structure content on a webpage. The skeleton every browser reads to build what you see.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4709160" y="1499616"/>
            <a:ext cx="4160520" cy="685800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4709160" y="1499616"/>
            <a:ext cx="64008" cy="685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837176" y="156362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</a:rPr>
              <a:t>Browser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4837176" y="1828800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The program (Chrome, Safari, Edge) that reads HTML files and displays them as a webpage.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274320" y="2322576"/>
            <a:ext cx="4160520" cy="685800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274320" y="2322576"/>
            <a:ext cx="64008" cy="685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02336" y="238658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</a:rPr>
              <a:t>Tag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402336" y="2651760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 keyword in angle brackets, like &lt;p&gt; or &lt;h1&gt;, that tells the browser what a piece of content is.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09160" y="2322576"/>
            <a:ext cx="4160520" cy="685800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709160" y="2322576"/>
            <a:ext cx="64008" cy="685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837176" y="238658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</a:rPr>
              <a:t>Element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4837176" y="2651760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 complete piece of HTML: an opening tag, its content, and its closing tag together.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274320" y="3145536"/>
            <a:ext cx="4160520" cy="685800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74320" y="3145536"/>
            <a:ext cx="64008" cy="685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02336" y="320954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</a:rPr>
              <a:t>Attribute</a:t>
            </a:r>
            <a:endParaRPr lang="en-US" sz="1300" dirty="0"/>
          </a:p>
        </p:txBody>
      </p:sp>
      <p:sp>
        <p:nvSpPr>
          <p:cNvPr id="25" name="Text 21"/>
          <p:cNvSpPr/>
          <p:nvPr/>
        </p:nvSpPr>
        <p:spPr>
          <a:xfrm>
            <a:off x="402336" y="3474720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Extra information inside an opening tag that gives more detail, like the href in a link.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709160" y="3145536"/>
            <a:ext cx="4160520" cy="685800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4709160" y="3145536"/>
            <a:ext cx="64008" cy="685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837176" y="320954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</a:rPr>
              <a:t>Website</a:t>
            </a:r>
            <a:endParaRPr lang="en-US" sz="1300" dirty="0"/>
          </a:p>
        </p:txBody>
      </p:sp>
      <p:sp>
        <p:nvSpPr>
          <p:cNvPr id="29" name="Text 25"/>
          <p:cNvSpPr/>
          <p:nvPr/>
        </p:nvSpPr>
        <p:spPr>
          <a:xfrm>
            <a:off x="4837176" y="3474720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 collection of connected webpages, reachable from one starting address.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Academic Vocabulary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274320" y="1499616"/>
            <a:ext cx="4160520" cy="685800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274320" y="1499616"/>
            <a:ext cx="64008" cy="685800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02336" y="1563624"/>
            <a:ext cx="39593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082"/>
                </a:solidFill>
              </a:rPr>
              <a:t>Webpage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02336" y="1828800"/>
            <a:ext cx="3959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</a:rPr>
              <a:t>A single page of content on the web, written in HTML.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9144000" cy="384048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320040" y="960120"/>
            <a:ext cx="8503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National Identity Integration</a:t>
            </a:r>
            <a:endParaRPr lang="en-US" sz="1500" dirty="0"/>
          </a:p>
        </p:txBody>
      </p:sp>
      <p:sp>
        <p:nvSpPr>
          <p:cNvPr id="6" name="Shape 2"/>
          <p:cNvSpPr/>
          <p:nvPr/>
        </p:nvSpPr>
        <p:spPr>
          <a:xfrm>
            <a:off x="0" y="1453896"/>
            <a:ext cx="9144000" cy="59436"/>
          </a:xfrm>
          <a:prstGeom prst="rect">
            <a:avLst/>
          </a:prstGeom>
          <a:solidFill>
            <a:srgbClr val="BE0028"/>
          </a:solidFill>
          <a:ln w="12700">
            <a:solidFill>
              <a:srgbClr val="BE0028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0" y="1513332"/>
            <a:ext cx="9144000" cy="5943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0" y="1572768"/>
            <a:ext cx="9144000" cy="59436"/>
          </a:xfrm>
          <a:prstGeom prst="rect">
            <a:avLst/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0" y="1632204"/>
            <a:ext cx="9144000" cy="59436"/>
          </a:xfrm>
          <a:prstGeom prst="rect">
            <a:avLst/>
          </a:prstGeom>
          <a:solidFill>
            <a:srgbClr val="00843D"/>
          </a:solidFill>
          <a:ln w="12700">
            <a:solidFill>
              <a:srgbClr val="00843D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274320" y="1773936"/>
            <a:ext cx="8595360" cy="270205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274320" y="1773936"/>
            <a:ext cx="64008" cy="2702052"/>
          </a:xfrm>
          <a:prstGeom prst="rect">
            <a:avLst/>
          </a:prstGeom>
          <a:solidFill>
            <a:srgbClr val="BE0028"/>
          </a:solidFill>
          <a:ln w="12700">
            <a:solidFill>
              <a:srgbClr val="BE0028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02920" y="1865376"/>
            <a:ext cx="8321040" cy="25008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</a:rPr>
              <a:t>UAE Digital Transformation and Future Skills: as you learn to build for the web this term, you're practicing exactly the kind of digital skill the UAE is investing in as it builds a future economy powered by technology and innovation.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156082"/>
          </a:solidFill>
          <a:ln w="12700">
            <a:solidFill>
              <a:srgbClr val="156082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STARTER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Hook - Engage &amp; Ask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5 - 10 minutes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880360" y="1280160"/>
            <a:ext cx="585216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Look at two real websites, one well designed, one cluttered and confusing.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Turn and talk: what makes one easier to use than the other?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1 / 4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585216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What Is HTML?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HTML (HyperText Markup Language) is the structural skeleton of every webpage.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Browsers read HTML and render it visually for us to see.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2 / 4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585216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Live Demo: View Page Source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Right click any website and choose View Page Source or Inspect.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See the HTML underneath what you normally see on the page.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3 / 4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585216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Analyzing a Website, 3 Times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Read 1: What is this website about?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Read 2: Find the header, navigation, main content, and footer.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Read 3: Why is it organized this way for its audience?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E2841"/>
          </a:solidFill>
          <a:ln w="12700">
            <a:solidFill>
              <a:srgbClr val="0E2841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LESSON CORE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Gradual Release of Responsibility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30 - 40 minutes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228600" y="41193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FE8F2"/>
                </a:solidFill>
              </a:rPr>
              <a:t>4 / 4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2880360" y="1280160"/>
            <a:ext cx="585216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Connecting to Our Big Question</a:t>
            </a:r>
            <a:endParaRPr lang="en-US" sz="14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1A1A1A"/>
                </a:solidFill>
              </a:rPr>
              <a:t>How can websites be used to solve communication problems and meet user needs?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576572"/>
            <a:ext cx="9144000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960120"/>
            <a:ext cx="2377440" cy="3616452"/>
          </a:xfrm>
          <a:prstGeom prst="rect">
            <a:avLst/>
          </a:prstGeom>
          <a:solidFill>
            <a:srgbClr val="0F9ED5"/>
          </a:solidFill>
          <a:ln w="12700">
            <a:solidFill>
              <a:srgbClr val="0F9ED5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0" y="114300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FFFFFF"/>
                </a:solidFill>
              </a:rPr>
              <a:t>CLOSURE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228600" y="16459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FE8F2"/>
                </a:solidFill>
              </a:rPr>
              <a:t>Transition &amp; Extend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320040" y="2194560"/>
            <a:ext cx="1737360" cy="0"/>
          </a:xfrm>
          <a:prstGeom prst="line">
            <a:avLst/>
          </a:prstGeom>
          <a:noFill/>
          <a:ln w="9525">
            <a:solidFill>
              <a:srgbClr val="FFFFFF">
                <a:alpha val="60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28600" y="233172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FE8F2"/>
                </a:solidFill>
              </a:rPr>
              <a:t>5 - 10 minutes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2651760" y="1097280"/>
            <a:ext cx="6217920" cy="3342132"/>
          </a:xfrm>
          <a:prstGeom prst="rect">
            <a:avLst/>
          </a:prstGeom>
          <a:solidFill>
            <a:srgbClr val="EEF6FB"/>
          </a:solidFill>
          <a:ln w="12700">
            <a:solidFill>
              <a:srgbClr val="D8E4EB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880360" y="1280160"/>
            <a:ext cx="5852160" cy="29763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ts val="2200"/>
              </a:lnSpc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</a:rPr>
              <a:t>One sentence: explain the role of HTML in web development.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1 - Lesson Plan</dc:title>
  <dc:subject>PptxGenJS Presentation</dc:subject>
  <dc:creator>Emirates National Schools</dc:creator>
  <cp:lastModifiedBy>Emirates National Schools</cp:lastModifiedBy>
  <cp:revision>1</cp:revision>
  <dcterms:created xsi:type="dcterms:W3CDTF">2026-09-02T11:51:52Z</dcterms:created>
  <dcterms:modified xsi:type="dcterms:W3CDTF">2026-09-02T11:51:52Z</dcterms:modified>
</cp:coreProperties>
</file>